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22"/>
  </p:notesMasterIdLst>
  <p:handoutMasterIdLst>
    <p:handoutMasterId r:id="rId23"/>
  </p:handoutMasterIdLst>
  <p:sldIdLst>
    <p:sldId id="256" r:id="rId5"/>
    <p:sldId id="292" r:id="rId6"/>
    <p:sldId id="299" r:id="rId7"/>
    <p:sldId id="283" r:id="rId8"/>
    <p:sldId id="293" r:id="rId9"/>
    <p:sldId id="300" r:id="rId10"/>
    <p:sldId id="264" r:id="rId11"/>
    <p:sldId id="289" r:id="rId12"/>
    <p:sldId id="287" r:id="rId13"/>
    <p:sldId id="297" r:id="rId14"/>
    <p:sldId id="298" r:id="rId15"/>
    <p:sldId id="303" r:id="rId16"/>
    <p:sldId id="304" r:id="rId17"/>
    <p:sldId id="302" r:id="rId18"/>
    <p:sldId id="296" r:id="rId19"/>
    <p:sldId id="301" r:id="rId20"/>
    <p:sldId id="29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13" autoAdjust="0"/>
    <p:restoredTop sz="95374" autoAdjust="0"/>
  </p:normalViewPr>
  <p:slideViewPr>
    <p:cSldViewPr snapToGrid="0" showGuides="1">
      <p:cViewPr varScale="1">
        <p:scale>
          <a:sx n="117" d="100"/>
          <a:sy n="117" d="100"/>
        </p:scale>
        <p:origin x="832" y="184"/>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12/8/25</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12/8/25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972850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1657027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5</a:t>
            </a:fld>
            <a:endParaRPr lang="en-US" dirty="0"/>
          </a:p>
        </p:txBody>
      </p:sp>
    </p:spTree>
    <p:extLst>
      <p:ext uri="{BB962C8B-B14F-4D97-AF65-F5344CB8AC3E}">
        <p14:creationId xmlns:p14="http://schemas.microsoft.com/office/powerpoint/2010/main" val="990704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7</a:t>
            </a:fld>
            <a:endParaRPr lang="en-US" dirty="0"/>
          </a:p>
        </p:txBody>
      </p:sp>
    </p:spTree>
    <p:extLst>
      <p:ext uri="{BB962C8B-B14F-4D97-AF65-F5344CB8AC3E}">
        <p14:creationId xmlns:p14="http://schemas.microsoft.com/office/powerpoint/2010/main" val="3690289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8</a:t>
            </a:fld>
            <a:endParaRPr lang="en-US" dirty="0"/>
          </a:p>
        </p:txBody>
      </p:sp>
    </p:spTree>
    <p:extLst>
      <p:ext uri="{BB962C8B-B14F-4D97-AF65-F5344CB8AC3E}">
        <p14:creationId xmlns:p14="http://schemas.microsoft.com/office/powerpoint/2010/main" val="2047023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9</a:t>
            </a:fld>
            <a:endParaRPr lang="en-US" dirty="0"/>
          </a:p>
        </p:txBody>
      </p:sp>
    </p:spTree>
    <p:extLst>
      <p:ext uri="{BB962C8B-B14F-4D97-AF65-F5344CB8AC3E}">
        <p14:creationId xmlns:p14="http://schemas.microsoft.com/office/powerpoint/2010/main" val="1174803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15</a:t>
            </a:fld>
            <a:endParaRPr lang="en-US" dirty="0"/>
          </a:p>
        </p:txBody>
      </p:sp>
    </p:spTree>
    <p:extLst>
      <p:ext uri="{BB962C8B-B14F-4D97-AF65-F5344CB8AC3E}">
        <p14:creationId xmlns:p14="http://schemas.microsoft.com/office/powerpoint/2010/main" val="1806707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17</a:t>
            </a:fld>
            <a:endParaRPr lang="en-US" dirty="0"/>
          </a:p>
        </p:txBody>
      </p:sp>
    </p:spTree>
    <p:extLst>
      <p:ext uri="{BB962C8B-B14F-4D97-AF65-F5344CB8AC3E}">
        <p14:creationId xmlns:p14="http://schemas.microsoft.com/office/powerpoint/2010/main" val="119346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70956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2162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6204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7124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5667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7012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96369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48225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33004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4885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6304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186295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endParaRPr lang="en-US" dirty="0"/>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59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E787D40-90B5-470E-95A2-784F1CB479C9}"/>
              </a:ext>
            </a:extLst>
          </p:cNvPr>
          <p:cNvSpPr>
            <a:spLocks noGrp="1"/>
          </p:cNvSpPr>
          <p:nvPr>
            <p:ph type="ctrTitle" hasCustomPrompt="1"/>
          </p:nvPr>
        </p:nvSpPr>
        <p:spPr>
          <a:xfrm>
            <a:off x="449580" y="4423702"/>
            <a:ext cx="11292839" cy="1550378"/>
          </a:xfrm>
        </p:spPr>
        <p:txBody>
          <a:bodyPr>
            <a:noAutofit/>
          </a:bodyPr>
          <a:lstStyle>
            <a:lvl1pPr algn="ctr">
              <a:defRPr/>
            </a:lvl1pPr>
          </a:lstStyle>
          <a:p>
            <a:r>
              <a:rPr lang="en-US" dirty="0"/>
              <a:t>Click to add title</a:t>
            </a:r>
          </a:p>
        </p:txBody>
      </p:sp>
      <p:sp>
        <p:nvSpPr>
          <p:cNvPr id="3" name="Picture Placeholder 2">
            <a:extLst>
              <a:ext uri="{FF2B5EF4-FFF2-40B4-BE49-F238E27FC236}">
                <a16:creationId xmlns:a16="http://schemas.microsoft.com/office/drawing/2014/main" id="{D528BC27-38F1-47F3-EC35-7DD8B88A7533}"/>
              </a:ext>
            </a:extLst>
          </p:cNvPr>
          <p:cNvSpPr>
            <a:spLocks noGrp="1"/>
          </p:cNvSpPr>
          <p:nvPr>
            <p:ph type="pic" sz="quarter" idx="13" hasCustomPrompt="1"/>
          </p:nvPr>
        </p:nvSpPr>
        <p:spPr>
          <a:xfrm>
            <a:off x="449580" y="705104"/>
            <a:ext cx="11292840" cy="3643376"/>
          </a:xfrm>
          <a:custGeom>
            <a:avLst/>
            <a:gdLst>
              <a:gd name="connsiteX0" fmla="*/ 7593576 w 11292840"/>
              <a:gd name="connsiteY0" fmla="*/ 0 h 3643376"/>
              <a:gd name="connsiteX1" fmla="*/ 11292840 w 11292840"/>
              <a:gd name="connsiteY1" fmla="*/ 0 h 3643376"/>
              <a:gd name="connsiteX2" fmla="*/ 11292840 w 11292840"/>
              <a:gd name="connsiteY2" fmla="*/ 3643376 h 3643376"/>
              <a:gd name="connsiteX3" fmla="*/ 7593576 w 11292840"/>
              <a:gd name="connsiteY3" fmla="*/ 3643376 h 3643376"/>
              <a:gd name="connsiteX4" fmla="*/ 0 w 11292840"/>
              <a:gd name="connsiteY4" fmla="*/ 0 h 3643376"/>
              <a:gd name="connsiteX5" fmla="*/ 7489667 w 11292840"/>
              <a:gd name="connsiteY5" fmla="*/ 0 h 3643376"/>
              <a:gd name="connsiteX6" fmla="*/ 7489667 w 11292840"/>
              <a:gd name="connsiteY6" fmla="*/ 3643376 h 3643376"/>
              <a:gd name="connsiteX7" fmla="*/ 0 w 11292840"/>
              <a:gd name="connsiteY7" fmla="*/ 3643376 h 364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2840" h="3643376">
                <a:moveTo>
                  <a:pt x="7593576" y="0"/>
                </a:moveTo>
                <a:lnTo>
                  <a:pt x="11292840" y="0"/>
                </a:lnTo>
                <a:lnTo>
                  <a:pt x="11292840" y="3643376"/>
                </a:lnTo>
                <a:lnTo>
                  <a:pt x="7593576" y="3643376"/>
                </a:lnTo>
                <a:close/>
                <a:moveTo>
                  <a:pt x="0" y="0"/>
                </a:moveTo>
                <a:lnTo>
                  <a:pt x="7489667" y="0"/>
                </a:lnTo>
                <a:lnTo>
                  <a:pt x="7489667" y="3643376"/>
                </a:lnTo>
                <a:lnTo>
                  <a:pt x="0" y="3643376"/>
                </a:lnTo>
                <a:close/>
              </a:path>
            </a:pathLst>
          </a:custGeom>
          <a:solidFill>
            <a:schemeClr val="accent2"/>
          </a:solidFill>
        </p:spPr>
        <p:txBody>
          <a:bodyPr wrap="square" anchor="t">
            <a:noAutofit/>
          </a:bodyPr>
          <a:lstStyle>
            <a:lvl1pPr marL="0" indent="0" algn="ctr">
              <a:buNone/>
              <a:defRPr/>
            </a:lvl1pPr>
          </a:lstStyle>
          <a:p>
            <a:pPr marL="0" marR="0" lvl="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dirty="0"/>
              <a:t>Click to add picture</a:t>
            </a:r>
          </a:p>
          <a:p>
            <a:endParaRPr lang="en-US" dirty="0"/>
          </a:p>
        </p:txBody>
      </p:sp>
    </p:spTree>
    <p:extLst>
      <p:ext uri="{BB962C8B-B14F-4D97-AF65-F5344CB8AC3E}">
        <p14:creationId xmlns:p14="http://schemas.microsoft.com/office/powerpoint/2010/main" val="4768087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436882" y="629920"/>
            <a:ext cx="3606800" cy="2809240"/>
          </a:xfrm>
        </p:spPr>
        <p:txBody>
          <a:bodyPr anchor="b">
            <a:no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436881" y="3698240"/>
            <a:ext cx="3606800" cy="2271076"/>
          </a:xfrm>
        </p:spPr>
        <p:txBody>
          <a:bodyPr anchor="t">
            <a:no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702608" y="6423914"/>
            <a:ext cx="1052510" cy="365125"/>
          </a:xfrm>
        </p:spPr>
        <p:txBody>
          <a:bodyPr/>
          <a:lstStyle/>
          <a:p>
            <a:fld id="{CBD12358-51D2-46B3-9BDE-DF29528B9454}" type="slidenum">
              <a:rPr lang="en-US" smtClean="0"/>
              <a:t>‹#›</a:t>
            </a:fld>
            <a:endParaRPr lang="en-US" dirty="0"/>
          </a:p>
        </p:txBody>
      </p:sp>
      <p:sp>
        <p:nvSpPr>
          <p:cNvPr id="9" name="Picture Placeholder 8">
            <a:extLst>
              <a:ext uri="{FF2B5EF4-FFF2-40B4-BE49-F238E27FC236}">
                <a16:creationId xmlns:a16="http://schemas.microsoft.com/office/drawing/2014/main" id="{454FD2A1-D363-7C44-2A72-54E8B397D31A}"/>
              </a:ext>
            </a:extLst>
          </p:cNvPr>
          <p:cNvSpPr>
            <a:spLocks noGrp="1"/>
          </p:cNvSpPr>
          <p:nvPr>
            <p:ph type="pic" sz="quarter" idx="13"/>
          </p:nvPr>
        </p:nvSpPr>
        <p:spPr>
          <a:xfrm>
            <a:off x="4236720" y="650240"/>
            <a:ext cx="7518398" cy="5713918"/>
          </a:xfrm>
          <a:custGeom>
            <a:avLst/>
            <a:gdLst>
              <a:gd name="connsiteX0" fmla="*/ 3806436 w 7518398"/>
              <a:gd name="connsiteY0" fmla="*/ 4479475 h 5713918"/>
              <a:gd name="connsiteX1" fmla="*/ 7518398 w 7518398"/>
              <a:gd name="connsiteY1" fmla="*/ 4479475 h 5713918"/>
              <a:gd name="connsiteX2" fmla="*/ 7518398 w 7518398"/>
              <a:gd name="connsiteY2" fmla="*/ 5713918 h 5713918"/>
              <a:gd name="connsiteX3" fmla="*/ 3806436 w 7518398"/>
              <a:gd name="connsiteY3" fmla="*/ 5713918 h 5713918"/>
              <a:gd name="connsiteX4" fmla="*/ 0 w 7518398"/>
              <a:gd name="connsiteY4" fmla="*/ 4479475 h 5713918"/>
              <a:gd name="connsiteX5" fmla="*/ 3702527 w 7518398"/>
              <a:gd name="connsiteY5" fmla="*/ 4479475 h 5713918"/>
              <a:gd name="connsiteX6" fmla="*/ 3702527 w 7518398"/>
              <a:gd name="connsiteY6" fmla="*/ 5713918 h 5713918"/>
              <a:gd name="connsiteX7" fmla="*/ 0 w 7518398"/>
              <a:gd name="connsiteY7" fmla="*/ 5713918 h 5713918"/>
              <a:gd name="connsiteX8" fmla="*/ 3806436 w 7518398"/>
              <a:gd name="connsiteY8" fmla="*/ 0 h 5713918"/>
              <a:gd name="connsiteX9" fmla="*/ 7518398 w 7518398"/>
              <a:gd name="connsiteY9" fmla="*/ 0 h 5713918"/>
              <a:gd name="connsiteX10" fmla="*/ 7518398 w 7518398"/>
              <a:gd name="connsiteY10" fmla="*/ 4379183 h 5713918"/>
              <a:gd name="connsiteX11" fmla="*/ 3806436 w 7518398"/>
              <a:gd name="connsiteY11" fmla="*/ 4379183 h 5713918"/>
              <a:gd name="connsiteX12" fmla="*/ 0 w 7518398"/>
              <a:gd name="connsiteY12" fmla="*/ 0 h 5713918"/>
              <a:gd name="connsiteX13" fmla="*/ 3702527 w 7518398"/>
              <a:gd name="connsiteY13" fmla="*/ 0 h 5713918"/>
              <a:gd name="connsiteX14" fmla="*/ 3702527 w 7518398"/>
              <a:gd name="connsiteY14" fmla="*/ 4379183 h 5713918"/>
              <a:gd name="connsiteX15" fmla="*/ 0 w 7518398"/>
              <a:gd name="connsiteY15" fmla="*/ 4379183 h 571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518398" h="5713918">
                <a:moveTo>
                  <a:pt x="3806436" y="4479475"/>
                </a:moveTo>
                <a:lnTo>
                  <a:pt x="7518398" y="4479475"/>
                </a:lnTo>
                <a:lnTo>
                  <a:pt x="7518398" y="5713918"/>
                </a:lnTo>
                <a:lnTo>
                  <a:pt x="3806436" y="5713918"/>
                </a:lnTo>
                <a:close/>
                <a:moveTo>
                  <a:pt x="0" y="4479475"/>
                </a:moveTo>
                <a:lnTo>
                  <a:pt x="3702527" y="4479475"/>
                </a:lnTo>
                <a:lnTo>
                  <a:pt x="3702527" y="5713918"/>
                </a:lnTo>
                <a:lnTo>
                  <a:pt x="0" y="5713918"/>
                </a:lnTo>
                <a:close/>
                <a:moveTo>
                  <a:pt x="3806436" y="0"/>
                </a:moveTo>
                <a:lnTo>
                  <a:pt x="7518398" y="0"/>
                </a:lnTo>
                <a:lnTo>
                  <a:pt x="7518398" y="4379183"/>
                </a:lnTo>
                <a:lnTo>
                  <a:pt x="3806436" y="4379183"/>
                </a:lnTo>
                <a:close/>
                <a:moveTo>
                  <a:pt x="0" y="0"/>
                </a:moveTo>
                <a:lnTo>
                  <a:pt x="3702527" y="0"/>
                </a:lnTo>
                <a:lnTo>
                  <a:pt x="3702527" y="4379183"/>
                </a:lnTo>
                <a:lnTo>
                  <a:pt x="0" y="4379183"/>
                </a:lnTo>
                <a:close/>
              </a:path>
            </a:pathLst>
          </a:custGeom>
          <a:solidFill>
            <a:schemeClr val="accent2"/>
          </a:solidFill>
        </p:spPr>
        <p:txBody>
          <a:bodyPr wrap="square" anchor="t">
            <a:noAutofit/>
          </a:bodyPr>
          <a:lstStyle/>
          <a:p>
            <a:endParaRPr lang="en-US" dirty="0"/>
          </a:p>
        </p:txBody>
      </p:sp>
    </p:spTree>
    <p:extLst>
      <p:ext uri="{BB962C8B-B14F-4D97-AF65-F5344CB8AC3E}">
        <p14:creationId xmlns:p14="http://schemas.microsoft.com/office/powerpoint/2010/main" val="4040880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bottom">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9CC542F-D03C-4537-9B6E-7F653B651524}"/>
              </a:ext>
            </a:extLst>
          </p:cNvPr>
          <p:cNvSpPr>
            <a:spLocks noGrp="1"/>
          </p:cNvSpPr>
          <p:nvPr>
            <p:ph type="title" hasCustomPrompt="1"/>
          </p:nvPr>
        </p:nvSpPr>
        <p:spPr>
          <a:xfrm>
            <a:off x="457200" y="2878091"/>
            <a:ext cx="3729789" cy="3440485"/>
          </a:xfrm>
        </p:spPr>
        <p:txBody>
          <a:bodyPr tIns="182880" bIns="182880" anchor="ctr" anchorCtr="0">
            <a:noAutofit/>
          </a:bodyPr>
          <a:lstStyle/>
          <a:p>
            <a:r>
              <a:rPr lang="en-US" dirty="0"/>
              <a:t>Click to add title</a:t>
            </a:r>
            <a:endParaRPr lang="en-US" dirty="0">
              <a:solidFill>
                <a:schemeClr val="tx2"/>
              </a:solidFill>
            </a:endParaRPr>
          </a:p>
        </p:txBody>
      </p:sp>
      <p:sp>
        <p:nvSpPr>
          <p:cNvPr id="3" name="Picture Placeholder 2">
            <a:extLst>
              <a:ext uri="{FF2B5EF4-FFF2-40B4-BE49-F238E27FC236}">
                <a16:creationId xmlns:a16="http://schemas.microsoft.com/office/drawing/2014/main" id="{130F1D2B-CBE7-6279-2158-7A9F3B5D5C61}"/>
              </a:ext>
            </a:extLst>
          </p:cNvPr>
          <p:cNvSpPr>
            <a:spLocks noGrp="1"/>
          </p:cNvSpPr>
          <p:nvPr>
            <p:ph type="pic" sz="quarter" idx="19" hasCustomPrompt="1"/>
          </p:nvPr>
        </p:nvSpPr>
        <p:spPr>
          <a:xfrm>
            <a:off x="457200" y="670560"/>
            <a:ext cx="11267440" cy="2139696"/>
          </a:xfrm>
          <a:custGeom>
            <a:avLst/>
            <a:gdLst>
              <a:gd name="connsiteX0" fmla="*/ 3783068 w 11267440"/>
              <a:gd name="connsiteY0" fmla="*/ 0 h 2139696"/>
              <a:gd name="connsiteX1" fmla="*/ 11267440 w 11267440"/>
              <a:gd name="connsiteY1" fmla="*/ 0 h 2139696"/>
              <a:gd name="connsiteX2" fmla="*/ 11267440 w 11267440"/>
              <a:gd name="connsiteY2" fmla="*/ 2139696 h 2139696"/>
              <a:gd name="connsiteX3" fmla="*/ 3783068 w 11267440"/>
              <a:gd name="connsiteY3" fmla="*/ 2139696 h 2139696"/>
              <a:gd name="connsiteX4" fmla="*/ 0 w 11267440"/>
              <a:gd name="connsiteY4" fmla="*/ 0 h 2139696"/>
              <a:gd name="connsiteX5" fmla="*/ 3677799 w 11267440"/>
              <a:gd name="connsiteY5" fmla="*/ 0 h 2139696"/>
              <a:gd name="connsiteX6" fmla="*/ 3677799 w 11267440"/>
              <a:gd name="connsiteY6" fmla="*/ 2139696 h 2139696"/>
              <a:gd name="connsiteX7" fmla="*/ 0 w 11267440"/>
              <a:gd name="connsiteY7" fmla="*/ 2139696 h 213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7440" h="2139696">
                <a:moveTo>
                  <a:pt x="3783068" y="0"/>
                </a:moveTo>
                <a:lnTo>
                  <a:pt x="11267440" y="0"/>
                </a:lnTo>
                <a:lnTo>
                  <a:pt x="11267440" y="2139696"/>
                </a:lnTo>
                <a:lnTo>
                  <a:pt x="3783068" y="2139696"/>
                </a:lnTo>
                <a:close/>
                <a:moveTo>
                  <a:pt x="0" y="0"/>
                </a:moveTo>
                <a:lnTo>
                  <a:pt x="3677799" y="0"/>
                </a:lnTo>
                <a:lnTo>
                  <a:pt x="3677799" y="2139696"/>
                </a:lnTo>
                <a:lnTo>
                  <a:pt x="0" y="213969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7" name="Content Placeholder 5">
            <a:extLst>
              <a:ext uri="{FF2B5EF4-FFF2-40B4-BE49-F238E27FC236}">
                <a16:creationId xmlns:a16="http://schemas.microsoft.com/office/drawing/2014/main" id="{135EE74D-5A60-B83C-5C2D-7B6FEA778FCB}"/>
              </a:ext>
            </a:extLst>
          </p:cNvPr>
          <p:cNvSpPr>
            <a:spLocks noGrp="1"/>
          </p:cNvSpPr>
          <p:nvPr>
            <p:ph sz="quarter" idx="4" hasCustomPrompt="1"/>
          </p:nvPr>
        </p:nvSpPr>
        <p:spPr>
          <a:xfrm>
            <a:off x="4305827" y="2878091"/>
            <a:ext cx="7418813" cy="3440485"/>
          </a:xfrm>
        </p:spPr>
        <p:txBody>
          <a:bodyPr anchor="ctr" anchorCtr="0">
            <a:normAutofit/>
          </a:bodyPr>
          <a:lstStyle>
            <a:lvl1pPr marL="283464" indent="-283464">
              <a:buFont typeface="Arial" panose="020B0604020202020204" pitchFamily="34" charset="0"/>
              <a:buChar char="•"/>
              <a:defRPr/>
            </a:lvl1pPr>
            <a:lvl2pPr marL="283464" indent="-283464">
              <a:buFont typeface="Arial" panose="020B0604020202020204" pitchFamily="34" charset="0"/>
              <a:buChar char="•"/>
              <a:defRPr/>
            </a:lvl2pPr>
            <a:lvl3pPr marL="283464" indent="-283464">
              <a:buFont typeface="Arial" panose="020B0604020202020204" pitchFamily="34" charset="0"/>
              <a:buChar char="•"/>
              <a:defRPr/>
            </a:lvl3pPr>
            <a:lvl4pPr marL="283464" indent="-283464">
              <a:buFont typeface="Arial" panose="020B0604020202020204" pitchFamily="34" charset="0"/>
              <a:buChar char="•"/>
              <a:defRPr/>
            </a:lvl4pPr>
            <a:lvl5pPr marL="283464" indent="-283464">
              <a:buFont typeface="Arial" panose="020B0604020202020204" pitchFamily="34" charset="0"/>
              <a:buChar char="•"/>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2BCF1FAD-0BAD-2574-3352-B152DF76C150}"/>
              </a:ext>
            </a:extLst>
          </p:cNvPr>
          <p:cNvSpPr>
            <a:spLocks noGrp="1"/>
          </p:cNvSpPr>
          <p:nvPr>
            <p:ph type="ftr" sz="quarter" idx="17"/>
          </p:nvPr>
        </p:nvSpPr>
        <p:spPr/>
        <p:txBody>
          <a:bodyPr/>
          <a:lstStyle/>
          <a:p>
            <a:endParaRPr lang="en-US" dirty="0"/>
          </a:p>
        </p:txBody>
      </p:sp>
      <p:sp>
        <p:nvSpPr>
          <p:cNvPr id="9" name="Date Placeholder 8">
            <a:extLst>
              <a:ext uri="{FF2B5EF4-FFF2-40B4-BE49-F238E27FC236}">
                <a16:creationId xmlns:a16="http://schemas.microsoft.com/office/drawing/2014/main" id="{EC328E41-645E-D257-FFF3-93344A8E4FA5}"/>
              </a:ext>
            </a:extLst>
          </p:cNvPr>
          <p:cNvSpPr>
            <a:spLocks noGrp="1"/>
          </p:cNvSpPr>
          <p:nvPr>
            <p:ph type="dt" sz="half" idx="16"/>
          </p:nvPr>
        </p:nvSpPr>
        <p:spPr/>
        <p:txBody>
          <a:bodyPr/>
          <a:lstStyle/>
          <a:p>
            <a:endParaRPr lang="en-US" dirty="0"/>
          </a:p>
        </p:txBody>
      </p:sp>
      <p:sp>
        <p:nvSpPr>
          <p:cNvPr id="14" name="Slide Number Placeholder 13">
            <a:extLst>
              <a:ext uri="{FF2B5EF4-FFF2-40B4-BE49-F238E27FC236}">
                <a16:creationId xmlns:a16="http://schemas.microsoft.com/office/drawing/2014/main" id="{DEF9E45A-6561-C074-14CE-B3B63476D221}"/>
              </a:ext>
            </a:extLst>
          </p:cNvPr>
          <p:cNvSpPr>
            <a:spLocks noGrp="1"/>
          </p:cNvSpPr>
          <p:nvPr>
            <p:ph type="sldNum" sz="quarter" idx="18"/>
          </p:nvPr>
        </p:nvSpPr>
        <p:spPr>
          <a:xfrm>
            <a:off x="10672130"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94703606"/>
      </p:ext>
    </p:extLst>
  </p:cSld>
  <p:clrMapOvr>
    <a:masterClrMapping/>
  </p:clrMapOvr>
  <p:extLst>
    <p:ext uri="{DCECCB84-F9BA-43D5-87BE-67443E8EF086}">
      <p15:sldGuideLst xmlns:p15="http://schemas.microsoft.com/office/powerpoint/2012/main">
        <p15:guide id="1" orient="horz">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3641497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9" name="Content Placeholder 3">
            <a:extLst>
              <a:ext uri="{FF2B5EF4-FFF2-40B4-BE49-F238E27FC236}">
                <a16:creationId xmlns:a16="http://schemas.microsoft.com/office/drawing/2014/main" id="{ECA520B1-DC84-A47D-1F5E-CCD567EB2D86}"/>
              </a:ext>
            </a:extLst>
          </p:cNvPr>
          <p:cNvSpPr>
            <a:spLocks noGrp="1"/>
          </p:cNvSpPr>
          <p:nvPr>
            <p:ph sz="half" idx="13" hasCustomPrompt="1"/>
          </p:nvPr>
        </p:nvSpPr>
        <p:spPr>
          <a:xfrm>
            <a:off x="457200" y="2187362"/>
            <a:ext cx="3657600" cy="3633047"/>
          </a:xfrm>
        </p:spPr>
        <p:txBody>
          <a:bodyPr anchor="t">
            <a:normAutofit/>
          </a:bodyPr>
          <a:lstStyle>
            <a:lvl1pPr marL="34290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282437" y="2187361"/>
            <a:ext cx="744220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220879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 subtitle +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6108219" y="741363"/>
            <a:ext cx="5626579" cy="1286219"/>
          </a:xfrm>
        </p:spPr>
        <p:txBody>
          <a:bodyPr anchor="b">
            <a:noAutofit/>
          </a:bodyPr>
          <a:lstStyle>
            <a:lvl1pPr algn="l">
              <a:defRPr sz="2800"/>
            </a:lvl1pPr>
          </a:lstStyle>
          <a:p>
            <a:endParaRPr lang="en-US" dirty="0"/>
          </a:p>
        </p:txBody>
      </p:sp>
      <p:sp>
        <p:nvSpPr>
          <p:cNvPr id="8" name="Picture Placeholder 7">
            <a:extLst>
              <a:ext uri="{FF2B5EF4-FFF2-40B4-BE49-F238E27FC236}">
                <a16:creationId xmlns:a16="http://schemas.microsoft.com/office/drawing/2014/main" id="{FCBE840D-FAED-31D9-AF31-112670D0FA2E}"/>
              </a:ext>
            </a:extLst>
          </p:cNvPr>
          <p:cNvSpPr>
            <a:spLocks noGrp="1"/>
          </p:cNvSpPr>
          <p:nvPr>
            <p:ph type="pic" sz="quarter" idx="13"/>
          </p:nvPr>
        </p:nvSpPr>
        <p:spPr>
          <a:xfrm>
            <a:off x="457200" y="761684"/>
            <a:ext cx="5171440" cy="5662230"/>
          </a:xfrm>
          <a:custGeom>
            <a:avLst/>
            <a:gdLst>
              <a:gd name="connsiteX0" fmla="*/ 0 w 5171440"/>
              <a:gd name="connsiteY0" fmla="*/ 5056400 h 5662230"/>
              <a:gd name="connsiteX1" fmla="*/ 3685975 w 5171440"/>
              <a:gd name="connsiteY1" fmla="*/ 5056400 h 5662230"/>
              <a:gd name="connsiteX2" fmla="*/ 3685975 w 5171440"/>
              <a:gd name="connsiteY2" fmla="*/ 5662230 h 5662230"/>
              <a:gd name="connsiteX3" fmla="*/ 0 w 5171440"/>
              <a:gd name="connsiteY3" fmla="*/ 5662230 h 5662230"/>
              <a:gd name="connsiteX4" fmla="*/ 3789884 w 5171440"/>
              <a:gd name="connsiteY4" fmla="*/ 0 h 5662230"/>
              <a:gd name="connsiteX5" fmla="*/ 5171440 w 5171440"/>
              <a:gd name="connsiteY5" fmla="*/ 0 h 5662230"/>
              <a:gd name="connsiteX6" fmla="*/ 5171440 w 5171440"/>
              <a:gd name="connsiteY6" fmla="*/ 5662230 h 5662230"/>
              <a:gd name="connsiteX7" fmla="*/ 3789884 w 5171440"/>
              <a:gd name="connsiteY7" fmla="*/ 5662230 h 5662230"/>
              <a:gd name="connsiteX8" fmla="*/ 3789884 w 5171440"/>
              <a:gd name="connsiteY8" fmla="*/ 5056400 h 5662230"/>
              <a:gd name="connsiteX9" fmla="*/ 5168980 w 5171440"/>
              <a:gd name="connsiteY9" fmla="*/ 5056400 h 5662230"/>
              <a:gd name="connsiteX10" fmla="*/ 5168980 w 5171440"/>
              <a:gd name="connsiteY10" fmla="*/ 4956108 h 5662230"/>
              <a:gd name="connsiteX11" fmla="*/ 3789884 w 5171440"/>
              <a:gd name="connsiteY11" fmla="*/ 4956108 h 5662230"/>
              <a:gd name="connsiteX12" fmla="*/ 0 w 5171440"/>
              <a:gd name="connsiteY12" fmla="*/ 0 h 5662230"/>
              <a:gd name="connsiteX13" fmla="*/ 3685975 w 5171440"/>
              <a:gd name="connsiteY13" fmla="*/ 0 h 5662230"/>
              <a:gd name="connsiteX14" fmla="*/ 3685975 w 5171440"/>
              <a:gd name="connsiteY14" fmla="*/ 4956108 h 5662230"/>
              <a:gd name="connsiteX15" fmla="*/ 0 w 5171440"/>
              <a:gd name="connsiteY15" fmla="*/ 4956108 h 566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71440" h="5662230">
                <a:moveTo>
                  <a:pt x="0" y="5056400"/>
                </a:moveTo>
                <a:lnTo>
                  <a:pt x="3685975" y="5056400"/>
                </a:lnTo>
                <a:lnTo>
                  <a:pt x="3685975" y="5662230"/>
                </a:lnTo>
                <a:lnTo>
                  <a:pt x="0" y="5662230"/>
                </a:lnTo>
                <a:close/>
                <a:moveTo>
                  <a:pt x="3789884" y="0"/>
                </a:moveTo>
                <a:lnTo>
                  <a:pt x="5171440" y="0"/>
                </a:lnTo>
                <a:lnTo>
                  <a:pt x="5171440" y="5662230"/>
                </a:lnTo>
                <a:lnTo>
                  <a:pt x="3789884" y="5662230"/>
                </a:lnTo>
                <a:lnTo>
                  <a:pt x="3789884" y="5056400"/>
                </a:lnTo>
                <a:lnTo>
                  <a:pt x="5168980" y="5056400"/>
                </a:lnTo>
                <a:lnTo>
                  <a:pt x="5168980" y="4956108"/>
                </a:lnTo>
                <a:lnTo>
                  <a:pt x="3789884" y="4956108"/>
                </a:lnTo>
                <a:close/>
                <a:moveTo>
                  <a:pt x="0" y="0"/>
                </a:moveTo>
                <a:lnTo>
                  <a:pt x="3685975" y="0"/>
                </a:lnTo>
                <a:lnTo>
                  <a:pt x="3685975" y="4956108"/>
                </a:lnTo>
                <a:lnTo>
                  <a:pt x="0" y="4956108"/>
                </a:lnTo>
                <a:close/>
              </a:path>
            </a:pathLst>
          </a:custGeom>
          <a:solidFill>
            <a:schemeClr val="accent2"/>
          </a:solidFill>
        </p:spPr>
        <p:txBody>
          <a:bodyPr wrap="square">
            <a:noAutofit/>
          </a:bodyPr>
          <a:lstStyle/>
          <a:p>
            <a:endParaRPr lang="en-US" dirty="0"/>
          </a:p>
        </p:txBody>
      </p:sp>
      <p:sp>
        <p:nvSpPr>
          <p:cNvPr id="10" name="Content Placeholder 2">
            <a:extLst>
              <a:ext uri="{FF2B5EF4-FFF2-40B4-BE49-F238E27FC236}">
                <a16:creationId xmlns:a16="http://schemas.microsoft.com/office/drawing/2014/main" id="{1E22983C-26B8-DE15-E309-D0E93B8C6996}"/>
              </a:ext>
            </a:extLst>
          </p:cNvPr>
          <p:cNvSpPr>
            <a:spLocks noGrp="1"/>
          </p:cNvSpPr>
          <p:nvPr>
            <p:ph idx="1" hasCustomPrompt="1"/>
          </p:nvPr>
        </p:nvSpPr>
        <p:spPr>
          <a:xfrm>
            <a:off x="6106160" y="2235200"/>
            <a:ext cx="5628639" cy="4188713"/>
          </a:xfrm>
        </p:spPr>
        <p:txBody>
          <a:bodyPr anchor="t" anchorCtr="0">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682289"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939251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447040" y="725444"/>
            <a:ext cx="11277600" cy="1044253"/>
          </a:xfrm>
        </p:spPr>
        <p:txBody>
          <a:bodyPr anchor="b" anchorCtr="0">
            <a:noAutofit/>
          </a:bodyPr>
          <a:lstStyle/>
          <a:p>
            <a:r>
              <a:rPr lang="en-US" dirty="0"/>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457200" y="2245360"/>
            <a:ext cx="3342640" cy="3992880"/>
          </a:xfrm>
        </p:spPr>
        <p:txBody>
          <a:bodyPr anchor="t"/>
          <a:lstStyle>
            <a:lvl1pPr marL="0" indent="0">
              <a:buNone/>
              <a:defRPr/>
            </a:lvl1pPr>
            <a:lvl2pPr marL="324000" indent="0">
              <a:buNone/>
              <a:defRPr/>
            </a:lvl2pPr>
            <a:lvl3pPr marL="630000" indent="0">
              <a:buNone/>
              <a:defRPr/>
            </a:lvl3pPr>
            <a:lvl4pPr marL="1008000" indent="0">
              <a:buNone/>
              <a:defRPr/>
            </a:lvl4pPr>
            <a:lvl5pPr marL="13680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236720" y="2236109"/>
            <a:ext cx="7498080" cy="4002131"/>
          </a:xfrm>
        </p:spPr>
        <p:txBody>
          <a:bodyPr/>
          <a:lstStyle/>
          <a:p>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a:xfrm>
            <a:off x="10682290"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07618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4" name="Content Placeholder 3"/>
          <p:cNvSpPr>
            <a:spLocks noGrp="1"/>
          </p:cNvSpPr>
          <p:nvPr>
            <p:ph sz="half" idx="2" hasCustomPrompt="1"/>
          </p:nvPr>
        </p:nvSpPr>
        <p:spPr>
          <a:xfrm>
            <a:off x="457200" y="2318490"/>
            <a:ext cx="737108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8E6EDC6B-B9AA-A4D9-A782-C38A0F84F63F}"/>
              </a:ext>
            </a:extLst>
          </p:cNvPr>
          <p:cNvSpPr>
            <a:spLocks noGrp="1"/>
          </p:cNvSpPr>
          <p:nvPr>
            <p:ph sz="half" idx="13" hasCustomPrompt="1"/>
          </p:nvPr>
        </p:nvSpPr>
        <p:spPr>
          <a:xfrm>
            <a:off x="7993378" y="2318490"/>
            <a:ext cx="3731262" cy="3633047"/>
          </a:xfrm>
        </p:spPr>
        <p:txBody>
          <a:bodyPr anchor="t">
            <a:normAutofit/>
          </a:bodyPr>
          <a:lstStyle>
            <a:lvl1pPr marL="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780133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457199" y="705124"/>
            <a:ext cx="11272649" cy="1062716"/>
          </a:xfrm>
        </p:spPr>
        <p:txBody>
          <a:bodyPr anchor="b" anchorCtr="0">
            <a:noAutofit/>
          </a:bodyPr>
          <a:lstStyle/>
          <a:p>
            <a:r>
              <a:rPr lang="en-US" dirty="0"/>
              <a:t>Click to edit Master title style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457201" y="2234979"/>
            <a:ext cx="11272648" cy="3969606"/>
          </a:xfrm>
        </p:spPr>
        <p:txBody>
          <a:bodyPr/>
          <a:lstStyle/>
          <a:p>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10558300" y="6423914"/>
            <a:ext cx="1171548"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702289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0F196A1-2430-4797-B656-A38302FAFF33}"/>
              </a:ext>
            </a:extLst>
          </p:cNvPr>
          <p:cNvSpPr>
            <a:spLocks noGrp="1"/>
          </p:cNvSpPr>
          <p:nvPr>
            <p:ph type="title"/>
          </p:nvPr>
        </p:nvSpPr>
        <p:spPr>
          <a:xfrm>
            <a:off x="462151" y="666984"/>
            <a:ext cx="3672970" cy="2125911"/>
          </a:xfrm>
        </p:spPr>
        <p:txBody>
          <a:bodyPr>
            <a:noAutofit/>
          </a:bodyPr>
          <a:lstStyle>
            <a:lvl1pPr algn="l">
              <a:defRPr/>
            </a:lvl1pPr>
          </a:lstStyle>
          <a:p>
            <a:endParaRPr lang="en-US" noProof="0" dirty="0"/>
          </a:p>
        </p:txBody>
      </p:sp>
      <p:sp>
        <p:nvSpPr>
          <p:cNvPr id="2" name="Content Placeholder 5">
            <a:extLst>
              <a:ext uri="{FF2B5EF4-FFF2-40B4-BE49-F238E27FC236}">
                <a16:creationId xmlns:a16="http://schemas.microsoft.com/office/drawing/2014/main" id="{5A0AD703-0A43-5323-CCB2-832D424EF2DB}"/>
              </a:ext>
            </a:extLst>
          </p:cNvPr>
          <p:cNvSpPr>
            <a:spLocks noGrp="1"/>
          </p:cNvSpPr>
          <p:nvPr>
            <p:ph sz="quarter" idx="4" hasCustomPrompt="1"/>
          </p:nvPr>
        </p:nvSpPr>
        <p:spPr>
          <a:xfrm>
            <a:off x="462151" y="2862479"/>
            <a:ext cx="3672970" cy="3491849"/>
          </a:xfrm>
        </p:spPr>
        <p:txBody>
          <a:bodyPr anchor="t" anchorCtr="0">
            <a:normAutofit/>
          </a:bodyPr>
          <a:lstStyle>
            <a:lvl1pPr marL="0" indent="0">
              <a:buNone/>
              <a:defRPr/>
            </a:lvl1pPr>
          </a:lstStyle>
          <a:p>
            <a:pPr lvl="0"/>
            <a:r>
              <a:rPr lang="en-US" noProof="0" dirty="0"/>
              <a:t>Click to add text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Picture Placeholder 3">
            <a:extLst>
              <a:ext uri="{FF2B5EF4-FFF2-40B4-BE49-F238E27FC236}">
                <a16:creationId xmlns:a16="http://schemas.microsoft.com/office/drawing/2014/main" id="{4627B629-9CBE-3ECF-2D88-F07AACD0374E}"/>
              </a:ext>
            </a:extLst>
          </p:cNvPr>
          <p:cNvSpPr>
            <a:spLocks noGrp="1"/>
          </p:cNvSpPr>
          <p:nvPr>
            <p:ph type="pic" sz="quarter" idx="13" hasCustomPrompt="1"/>
          </p:nvPr>
        </p:nvSpPr>
        <p:spPr>
          <a:xfrm>
            <a:off x="4231970" y="666985"/>
            <a:ext cx="7497880" cy="5687344"/>
          </a:xfrm>
          <a:custGeom>
            <a:avLst/>
            <a:gdLst>
              <a:gd name="connsiteX0" fmla="*/ 3803282 w 7497880"/>
              <a:gd name="connsiteY0" fmla="*/ 0 h 5687344"/>
              <a:gd name="connsiteX1" fmla="*/ 7497880 w 7497880"/>
              <a:gd name="connsiteY1" fmla="*/ 0 h 5687344"/>
              <a:gd name="connsiteX2" fmla="*/ 7497880 w 7497880"/>
              <a:gd name="connsiteY2" fmla="*/ 4581885 h 5687344"/>
              <a:gd name="connsiteX3" fmla="*/ 3803282 w 7497880"/>
              <a:gd name="connsiteY3" fmla="*/ 4581885 h 5687344"/>
              <a:gd name="connsiteX4" fmla="*/ 0 w 7497880"/>
              <a:gd name="connsiteY4" fmla="*/ 0 h 5687344"/>
              <a:gd name="connsiteX5" fmla="*/ 3699373 w 7497880"/>
              <a:gd name="connsiteY5" fmla="*/ 0 h 5687344"/>
              <a:gd name="connsiteX6" fmla="*/ 3699373 w 7497880"/>
              <a:gd name="connsiteY6" fmla="*/ 4581885 h 5687344"/>
              <a:gd name="connsiteX7" fmla="*/ 2 w 7497880"/>
              <a:gd name="connsiteY7" fmla="*/ 4581885 h 5687344"/>
              <a:gd name="connsiteX8" fmla="*/ 2 w 7497880"/>
              <a:gd name="connsiteY8" fmla="*/ 4679200 h 5687344"/>
              <a:gd name="connsiteX9" fmla="*/ 3699373 w 7497880"/>
              <a:gd name="connsiteY9" fmla="*/ 4679200 h 5687344"/>
              <a:gd name="connsiteX10" fmla="*/ 3699373 w 7497880"/>
              <a:gd name="connsiteY10" fmla="*/ 5679350 h 5687344"/>
              <a:gd name="connsiteX11" fmla="*/ 3803282 w 7497880"/>
              <a:gd name="connsiteY11" fmla="*/ 5679350 h 5687344"/>
              <a:gd name="connsiteX12" fmla="*/ 3803282 w 7497880"/>
              <a:gd name="connsiteY12" fmla="*/ 4679200 h 5687344"/>
              <a:gd name="connsiteX13" fmla="*/ 7497880 w 7497880"/>
              <a:gd name="connsiteY13" fmla="*/ 4679200 h 5687344"/>
              <a:gd name="connsiteX14" fmla="*/ 7497880 w 7497880"/>
              <a:gd name="connsiteY14" fmla="*/ 5687344 h 5687344"/>
              <a:gd name="connsiteX15" fmla="*/ 0 w 7497880"/>
              <a:gd name="connsiteY15" fmla="*/ 5687344 h 568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497880" h="5687344">
                <a:moveTo>
                  <a:pt x="3803282" y="0"/>
                </a:moveTo>
                <a:lnTo>
                  <a:pt x="7497880" y="0"/>
                </a:lnTo>
                <a:lnTo>
                  <a:pt x="7497880" y="4581885"/>
                </a:lnTo>
                <a:lnTo>
                  <a:pt x="3803282" y="4581885"/>
                </a:lnTo>
                <a:close/>
                <a:moveTo>
                  <a:pt x="0" y="0"/>
                </a:moveTo>
                <a:lnTo>
                  <a:pt x="3699373" y="0"/>
                </a:lnTo>
                <a:lnTo>
                  <a:pt x="3699373" y="4581885"/>
                </a:lnTo>
                <a:lnTo>
                  <a:pt x="2" y="4581885"/>
                </a:lnTo>
                <a:lnTo>
                  <a:pt x="2" y="4679200"/>
                </a:lnTo>
                <a:lnTo>
                  <a:pt x="3699373" y="4679200"/>
                </a:lnTo>
                <a:lnTo>
                  <a:pt x="3699373" y="5679350"/>
                </a:lnTo>
                <a:lnTo>
                  <a:pt x="3803282" y="5679350"/>
                </a:lnTo>
                <a:lnTo>
                  <a:pt x="3803282" y="4679200"/>
                </a:lnTo>
                <a:lnTo>
                  <a:pt x="7497880" y="4679200"/>
                </a:lnTo>
                <a:lnTo>
                  <a:pt x="7497880" y="5687344"/>
                </a:lnTo>
                <a:lnTo>
                  <a:pt x="0" y="5687344"/>
                </a:lnTo>
                <a:close/>
              </a:path>
            </a:pathLst>
          </a:custGeom>
          <a:solidFill>
            <a:schemeClr val="accent2"/>
          </a:solidFill>
        </p:spPr>
        <p:txBody>
          <a:bodyPr wrap="square" anchor="t">
            <a:noAutofit/>
          </a:bodyPr>
          <a:lstStyle>
            <a:lvl1pPr marL="0" indent="0" algn="ctr">
              <a:buNone/>
              <a:defRPr/>
            </a:lvl1pPr>
          </a:lstStyle>
          <a:p>
            <a:r>
              <a:rPr lang="en-US" noProof="0" dirty="0"/>
              <a:t>Click to add picture</a:t>
            </a:r>
          </a:p>
        </p:txBody>
      </p:sp>
      <p:sp>
        <p:nvSpPr>
          <p:cNvPr id="6" name="Date Placeholder 5">
            <a:extLst>
              <a:ext uri="{FF2B5EF4-FFF2-40B4-BE49-F238E27FC236}">
                <a16:creationId xmlns:a16="http://schemas.microsoft.com/office/drawing/2014/main" id="{90DD7D93-4C4D-E385-9F8C-40536F0BDEA2}"/>
              </a:ext>
            </a:extLst>
          </p:cNvPr>
          <p:cNvSpPr>
            <a:spLocks noGrp="1"/>
          </p:cNvSpPr>
          <p:nvPr>
            <p:ph type="dt" sz="half" idx="14"/>
          </p:nvPr>
        </p:nvSpPr>
        <p:spPr/>
        <p:txBody>
          <a:bodyPr/>
          <a:lstStyle/>
          <a:p>
            <a:endParaRPr lang="en-US" noProof="0" dirty="0"/>
          </a:p>
        </p:txBody>
      </p:sp>
      <p:sp>
        <p:nvSpPr>
          <p:cNvPr id="7" name="Footer Placeholder 6">
            <a:extLst>
              <a:ext uri="{FF2B5EF4-FFF2-40B4-BE49-F238E27FC236}">
                <a16:creationId xmlns:a16="http://schemas.microsoft.com/office/drawing/2014/main" id="{BC99FA72-244D-9DC3-C9B7-E7DAD50A01F7}"/>
              </a:ext>
            </a:extLst>
          </p:cNvPr>
          <p:cNvSpPr>
            <a:spLocks noGrp="1"/>
          </p:cNvSpPr>
          <p:nvPr>
            <p:ph type="ftr" sz="quarter" idx="15"/>
          </p:nvPr>
        </p:nvSpPr>
        <p:spPr/>
        <p:txBody>
          <a:bodyPr/>
          <a:lstStyle/>
          <a:p>
            <a:endParaRPr lang="en-US" noProof="0" dirty="0"/>
          </a:p>
        </p:txBody>
      </p:sp>
      <p:sp>
        <p:nvSpPr>
          <p:cNvPr id="8" name="Slide Number Placeholder 7">
            <a:extLst>
              <a:ext uri="{FF2B5EF4-FFF2-40B4-BE49-F238E27FC236}">
                <a16:creationId xmlns:a16="http://schemas.microsoft.com/office/drawing/2014/main" id="{725A4F6F-66FD-CDA5-7F8F-F5FD6382CFCF}"/>
              </a:ext>
            </a:extLst>
          </p:cNvPr>
          <p:cNvSpPr>
            <a:spLocks noGrp="1"/>
          </p:cNvSpPr>
          <p:nvPr>
            <p:ph type="sldNum" sz="quarter" idx="16"/>
          </p:nvPr>
        </p:nvSpPr>
        <p:spPr>
          <a:xfrm>
            <a:off x="10677340" y="6423914"/>
            <a:ext cx="1052510" cy="365125"/>
          </a:xfrm>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3356847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7" name="Group 6">
            <a:extLst>
              <a:ext uri="{FF2B5EF4-FFF2-40B4-BE49-F238E27FC236}">
                <a16:creationId xmlns:a16="http://schemas.microsoft.com/office/drawing/2014/main" id="{0B1561DF-26A0-6739-95BB-64CDC4C2C6C7}"/>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053579F-32D7-9FD1-DC84-FA7E491BF51E}"/>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DA544AA-CD43-1627-B3BA-3D86AE3F66BA}"/>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8B9861A-053E-6F37-B96F-66C27B486406}"/>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41671247"/>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 id="2147483819" r:id="rId20"/>
    <p:sldLayoutId id="2147483820" r:id="rId21"/>
    <p:sldLayoutId id="2147483821" r:id="rId22"/>
    <p:sldLayoutId id="2147483822" r:id="rId23"/>
  </p:sldLayoutIdLst>
  <p:hf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hyperlink" Target="https://arxiv.org/abs/1412.6980" TargetMode="External"/><Relationship Id="rId2" Type="http://schemas.openxmlformats.org/officeDocument/2006/relationships/hyperlink" Target="https://arxiv.org/abs/1705.02315" TargetMode="External"/><Relationship Id="rId1" Type="http://schemas.openxmlformats.org/officeDocument/2006/relationships/slideLayout" Target="../slideLayouts/slideLayout2.xml"/><Relationship Id="rId6" Type="http://schemas.openxmlformats.org/officeDocument/2006/relationships/hyperlink" Target="https://www.kaggle.com/datasets/nih-" TargetMode="External"/><Relationship Id="rId5" Type="http://schemas.openxmlformats.org/officeDocument/2006/relationships/hyperlink" Target="https://www.geeksforgeeks.org/machine-learning/ml-stochastic-gradient-descent-sgd/" TargetMode="External"/><Relationship Id="rId4" Type="http://schemas.openxmlformats.org/officeDocument/2006/relationships/hyperlink" Target="https://www.deeplearningbook.org/"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a:xfrm>
            <a:off x="446157" y="607075"/>
            <a:ext cx="11265407" cy="1665268"/>
          </a:xfrm>
        </p:spPr>
        <p:txBody>
          <a:bodyPr/>
          <a:lstStyle/>
          <a:p>
            <a:r>
              <a:rPr lang="en-US" sz="2400" b="1" dirty="0">
                <a:latin typeface="Arial"/>
                <a:ea typeface="+mj-lt"/>
                <a:cs typeface="+mj-lt"/>
              </a:rPr>
              <a:t>Medical Image Classification for Disease Diagnosis</a:t>
            </a:r>
            <a:br>
              <a:rPr lang="en-US" sz="2400" b="1" dirty="0">
                <a:latin typeface="Arial"/>
                <a:ea typeface="+mj-lt"/>
                <a:cs typeface="+mj-lt"/>
              </a:rPr>
            </a:br>
            <a:r>
              <a:rPr lang="en-US" sz="2400" b="1" dirty="0">
                <a:latin typeface="Arial"/>
                <a:ea typeface="+mj-lt"/>
                <a:cs typeface="+mj-lt"/>
              </a:rPr>
              <a:t>Using Deep Neural Networks with Hyperparameter Optimization</a:t>
            </a:r>
            <a:endParaRPr lang="en-US" sz="2400" b="1" dirty="0">
              <a:latin typeface="Arial"/>
            </a:endParaRPr>
          </a:p>
        </p:txBody>
      </p:sp>
      <p:pic>
        <p:nvPicPr>
          <p:cNvPr id="10" name="Picture Placeholder 9" descr="A stethoscope on a clipboard">
            <a:extLst>
              <a:ext uri="{FF2B5EF4-FFF2-40B4-BE49-F238E27FC236}">
                <a16:creationId xmlns:a16="http://schemas.microsoft.com/office/drawing/2014/main" id="{CC4B82FA-2EA0-5319-6B9C-8D78349FCB09}"/>
              </a:ext>
            </a:extLst>
          </p:cNvPr>
          <p:cNvPicPr>
            <a:picLocks noGrp="1" noChangeAspect="1"/>
          </p:cNvPicPr>
          <p:nvPr>
            <p:ph type="pic" sz="quarter" idx="13"/>
          </p:nvPr>
        </p:nvPicPr>
        <p:blipFill rotWithShape="1">
          <a:blip r:embed="rId3"/>
          <a:srcRect t="28164" b="28164"/>
          <a:stretch/>
        </p:blipFill>
        <p:spPr>
          <a:xfrm>
            <a:off x="448055" y="2682191"/>
            <a:ext cx="5874290" cy="3343188"/>
          </a:xfrm>
        </p:spPr>
      </p:pic>
      <p:sp>
        <p:nvSpPr>
          <p:cNvPr id="6" name="TextBox 5">
            <a:extLst>
              <a:ext uri="{FF2B5EF4-FFF2-40B4-BE49-F238E27FC236}">
                <a16:creationId xmlns:a16="http://schemas.microsoft.com/office/drawing/2014/main" id="{BF428D79-9DB3-8D70-2213-D9ED19A7F076}"/>
              </a:ext>
            </a:extLst>
          </p:cNvPr>
          <p:cNvSpPr txBox="1"/>
          <p:nvPr/>
        </p:nvSpPr>
        <p:spPr>
          <a:xfrm>
            <a:off x="7141953" y="4233473"/>
            <a:ext cx="439419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Group Members:</a:t>
            </a:r>
          </a:p>
          <a:p>
            <a:endParaRPr lang="en-US" b="1" dirty="0"/>
          </a:p>
          <a:p>
            <a:r>
              <a:rPr lang="en-US" dirty="0"/>
              <a:t>Kirandeep Kaur</a:t>
            </a:r>
          </a:p>
          <a:p>
            <a:r>
              <a:rPr lang="en-US" dirty="0"/>
              <a:t>Ibrahim Balogun</a:t>
            </a:r>
          </a:p>
          <a:p>
            <a:r>
              <a:rPr lang="en-US" dirty="0"/>
              <a:t>Elijah Ojelabi</a:t>
            </a:r>
          </a:p>
          <a:p>
            <a:r>
              <a:rPr lang="en-US" dirty="0"/>
              <a:t>Maxwell Owusu-Edusei</a:t>
            </a:r>
          </a:p>
        </p:txBody>
      </p:sp>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B23E1E4-7CB2-923B-9D41-672CB85E05DA}"/>
              </a:ext>
            </a:extLst>
          </p:cNvPr>
          <p:cNvSpPr>
            <a:spLocks noGrp="1"/>
          </p:cNvSpPr>
          <p:nvPr>
            <p:ph type="title"/>
          </p:nvPr>
        </p:nvSpPr>
        <p:spPr>
          <a:xfrm>
            <a:off x="457200" y="640079"/>
            <a:ext cx="3657600" cy="608601"/>
          </a:xfrm>
        </p:spPr>
        <p:txBody>
          <a:bodyPr/>
          <a:lstStyle/>
          <a:p>
            <a:r>
              <a:rPr lang="en-US" dirty="0"/>
              <a:t>Contents</a:t>
            </a:r>
          </a:p>
        </p:txBody>
      </p:sp>
      <p:sp>
        <p:nvSpPr>
          <p:cNvPr id="8" name="Content Placeholder 7">
            <a:extLst>
              <a:ext uri="{FF2B5EF4-FFF2-40B4-BE49-F238E27FC236}">
                <a16:creationId xmlns:a16="http://schemas.microsoft.com/office/drawing/2014/main" id="{1A667A9A-3428-68BE-D555-0DE1859FDF8A}"/>
              </a:ext>
            </a:extLst>
          </p:cNvPr>
          <p:cNvSpPr>
            <a:spLocks noGrp="1"/>
          </p:cNvSpPr>
          <p:nvPr>
            <p:ph sz="quarter" idx="4"/>
          </p:nvPr>
        </p:nvSpPr>
        <p:spPr>
          <a:xfrm>
            <a:off x="457201" y="2248636"/>
            <a:ext cx="3657600" cy="3987148"/>
          </a:xfrm>
        </p:spPr>
        <p:txBody>
          <a:bodyPr/>
          <a:lstStyle/>
          <a:p>
            <a:pPr marL="285750" indent="-285750">
              <a:buFont typeface="Arial" panose="05020102010507070707" pitchFamily="18" charset="2"/>
              <a:buChar char="•"/>
            </a:pPr>
            <a:r>
              <a:rPr lang="en-US" dirty="0">
                <a:latin typeface="Arial"/>
                <a:cs typeface="Arial"/>
              </a:rPr>
              <a:t>Introduction</a:t>
            </a:r>
            <a:endParaRPr lang="en-US"/>
          </a:p>
          <a:p>
            <a:pPr marL="285750" indent="-285750">
              <a:buFont typeface="Arial" panose="05020102010507070707" pitchFamily="18" charset="2"/>
              <a:buChar char="•"/>
            </a:pPr>
            <a:r>
              <a:rPr lang="en-US" dirty="0">
                <a:latin typeface="Arial"/>
                <a:cs typeface="Arial"/>
              </a:rPr>
              <a:t>Project Description</a:t>
            </a:r>
          </a:p>
          <a:p>
            <a:pPr marL="285750" indent="-285750">
              <a:buFont typeface="Arial" panose="05020102010507070707" pitchFamily="18" charset="2"/>
              <a:buChar char="•"/>
            </a:pPr>
            <a:r>
              <a:rPr lang="en-US" dirty="0">
                <a:latin typeface="Arial"/>
                <a:cs typeface="Arial"/>
              </a:rPr>
              <a:t>Objectives</a:t>
            </a:r>
          </a:p>
          <a:p>
            <a:pPr marL="285750" indent="-285750">
              <a:buFont typeface="Arial" panose="05020102010507070707" pitchFamily="18" charset="2"/>
              <a:buChar char="•"/>
            </a:pPr>
            <a:r>
              <a:rPr lang="en-US" dirty="0">
                <a:latin typeface="Arial"/>
                <a:cs typeface="Arial"/>
              </a:rPr>
              <a:t>Literature Review</a:t>
            </a:r>
          </a:p>
          <a:p>
            <a:pPr marL="285750" indent="-285750">
              <a:buFont typeface="Arial" panose="05020102010507070707" pitchFamily="18" charset="2"/>
              <a:buChar char="•"/>
            </a:pPr>
            <a:r>
              <a:rPr lang="en-US" dirty="0">
                <a:latin typeface="Arial"/>
                <a:cs typeface="Arial"/>
              </a:rPr>
              <a:t>Data Source</a:t>
            </a:r>
          </a:p>
          <a:p>
            <a:pPr marL="285750" indent="-285750">
              <a:buFont typeface="Arial" panose="05020102010507070707" pitchFamily="18" charset="2"/>
              <a:buChar char="•"/>
            </a:pPr>
            <a:r>
              <a:rPr lang="en-US" dirty="0">
                <a:latin typeface="Arial"/>
                <a:cs typeface="Arial"/>
              </a:rPr>
              <a:t>Methodology</a:t>
            </a:r>
          </a:p>
          <a:p>
            <a:pPr marL="285750" indent="-285750">
              <a:buFont typeface="Arial" panose="05020102010507070707" pitchFamily="18" charset="2"/>
              <a:buChar char="•"/>
            </a:pPr>
            <a:r>
              <a:rPr lang="en-US" dirty="0">
                <a:latin typeface="Arial"/>
                <a:cs typeface="Arial"/>
              </a:rPr>
              <a:t>Results</a:t>
            </a:r>
          </a:p>
          <a:p>
            <a:pPr marL="285750" indent="-285750">
              <a:buFont typeface="Arial" panose="05020102010507070707" pitchFamily="18" charset="2"/>
              <a:buChar char="•"/>
            </a:pPr>
            <a:r>
              <a:rPr lang="en-US" dirty="0">
                <a:latin typeface="Arial"/>
                <a:cs typeface="Arial"/>
              </a:rPr>
              <a:t>Conclusion</a:t>
            </a:r>
          </a:p>
          <a:p>
            <a:pPr marL="285750" indent="-285750">
              <a:buFont typeface="Arial" panose="05020102010507070707" pitchFamily="18" charset="2"/>
              <a:buChar char="•"/>
            </a:pPr>
            <a:r>
              <a:rPr lang="en-US">
                <a:latin typeface="Arial"/>
                <a:cs typeface="Arial"/>
              </a:rPr>
              <a:t>References</a:t>
            </a:r>
            <a:endParaRPr lang="en-US" dirty="0">
              <a:latin typeface="Arial"/>
              <a:cs typeface="Arial"/>
            </a:endParaRPr>
          </a:p>
          <a:p>
            <a:pPr algn="r"/>
            <a:endParaRPr lang="en-US" dirty="0">
              <a:latin typeface="Arial"/>
              <a:cs typeface="Arial"/>
            </a:endParaRPr>
          </a:p>
        </p:txBody>
      </p:sp>
      <p:pic>
        <p:nvPicPr>
          <p:cNvPr id="34" name="Picture Placeholder 21" descr="A close-up of a stethoscope">
            <a:extLst>
              <a:ext uri="{FF2B5EF4-FFF2-40B4-BE49-F238E27FC236}">
                <a16:creationId xmlns:a16="http://schemas.microsoft.com/office/drawing/2014/main" id="{63F55FD3-B051-BD22-347E-065B72C87E1C}"/>
              </a:ext>
            </a:extLst>
          </p:cNvPr>
          <p:cNvPicPr>
            <a:picLocks noGrp="1" noChangeAspect="1"/>
          </p:cNvPicPr>
          <p:nvPr>
            <p:ph type="pic" sz="quarter" idx="13"/>
          </p:nvPr>
        </p:nvPicPr>
        <p:blipFill>
          <a:blip r:embed="rId3"/>
          <a:srcRect l="148" r="148"/>
          <a:stretch/>
        </p:blipFill>
        <p:spPr/>
      </p:pic>
      <p:sp>
        <p:nvSpPr>
          <p:cNvPr id="2" name="Slide Number Placeholder 1">
            <a:extLst>
              <a:ext uri="{FF2B5EF4-FFF2-40B4-BE49-F238E27FC236}">
                <a16:creationId xmlns:a16="http://schemas.microsoft.com/office/drawing/2014/main" id="{5F4B6857-9223-FB2F-4F38-D006A960B240}"/>
              </a:ext>
            </a:extLst>
          </p:cNvPr>
          <p:cNvSpPr>
            <a:spLocks noGrp="1"/>
          </p:cNvSpPr>
          <p:nvPr>
            <p:ph type="sldNum" sz="quarter" idx="17"/>
          </p:nvPr>
        </p:nvSpPr>
        <p:spPr/>
        <p:txBody>
          <a:bodyPr/>
          <a:lstStyle/>
          <a:p>
            <a:fld id="{3A98EE3D-8CD1-4C3F-BD1C-C98C9596463C}" type="slidenum">
              <a:rPr lang="en-US" sz="1050" smtClean="0"/>
              <a:t>2</a:t>
            </a:fld>
            <a:endParaRPr lang="en-US" sz="1050" dirty="0"/>
          </a:p>
        </p:txBody>
      </p:sp>
    </p:spTree>
    <p:extLst>
      <p:ext uri="{BB962C8B-B14F-4D97-AF65-F5344CB8AC3E}">
        <p14:creationId xmlns:p14="http://schemas.microsoft.com/office/powerpoint/2010/main" val="220112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9D0B2-3D7D-AB1E-2BC8-E69D51FB89C5}"/>
              </a:ext>
            </a:extLst>
          </p:cNvPr>
          <p:cNvSpPr>
            <a:spLocks noGrp="1"/>
          </p:cNvSpPr>
          <p:nvPr>
            <p:ph type="title"/>
          </p:nvPr>
        </p:nvSpPr>
        <p:spPr>
          <a:xfrm>
            <a:off x="581192" y="702156"/>
            <a:ext cx="11029616" cy="723054"/>
          </a:xfrm>
        </p:spPr>
        <p:txBody>
          <a:bodyPr/>
          <a:lstStyle/>
          <a:p>
            <a:r>
              <a:rPr lang="en-US" dirty="0"/>
              <a:t>Introduction</a:t>
            </a:r>
          </a:p>
        </p:txBody>
      </p:sp>
      <p:sp>
        <p:nvSpPr>
          <p:cNvPr id="3" name="Content Placeholder 2">
            <a:extLst>
              <a:ext uri="{FF2B5EF4-FFF2-40B4-BE49-F238E27FC236}">
                <a16:creationId xmlns:a16="http://schemas.microsoft.com/office/drawing/2014/main" id="{050E38C7-F9D4-7C2D-A634-191B0680A0E8}"/>
              </a:ext>
            </a:extLst>
          </p:cNvPr>
          <p:cNvSpPr>
            <a:spLocks noGrp="1"/>
          </p:cNvSpPr>
          <p:nvPr>
            <p:ph idx="1"/>
          </p:nvPr>
        </p:nvSpPr>
        <p:spPr>
          <a:xfrm>
            <a:off x="464775" y="1716449"/>
            <a:ext cx="11029615" cy="4713985"/>
          </a:xfrm>
        </p:spPr>
        <p:txBody>
          <a:bodyPr>
            <a:normAutofit/>
          </a:bodyPr>
          <a:lstStyle/>
          <a:p>
            <a:pPr marL="305435" indent="-305435"/>
            <a:r>
              <a:rPr lang="en-US" sz="2000" dirty="0">
                <a:latin typeface="Arial"/>
                <a:ea typeface="+mn-lt"/>
                <a:cs typeface="+mn-lt"/>
              </a:rPr>
              <a:t>Medical image classification is crucial in healthcare, especially for detecting conditions like pneumonia, edema, and cardiomegaly using chest X-rays.</a:t>
            </a:r>
            <a:endParaRPr lang="en-US" sz="2000" dirty="0">
              <a:latin typeface="Arial"/>
              <a:cs typeface="Arial"/>
            </a:endParaRPr>
          </a:p>
          <a:p>
            <a:pPr marL="305435" indent="-305435"/>
            <a:r>
              <a:rPr lang="en-US" sz="2000" dirty="0">
                <a:latin typeface="Arial"/>
                <a:ea typeface="+mn-lt"/>
                <a:cs typeface="+mn-lt"/>
              </a:rPr>
              <a:t>In this we applied a CNN to a subset of the NIH ChestX-ray14 dataset to perform multi-label classification, allowing the model to identify multiple diseases in one X-ray.</a:t>
            </a:r>
            <a:endParaRPr lang="en-US" sz="2000" dirty="0">
              <a:latin typeface="Arial"/>
              <a:cs typeface="Arial"/>
            </a:endParaRPr>
          </a:p>
          <a:p>
            <a:pPr marL="305435" indent="-305435"/>
            <a:r>
              <a:rPr lang="en-US" sz="2000" dirty="0">
                <a:latin typeface="Arial"/>
                <a:ea typeface="+mn-lt"/>
                <a:cs typeface="+mn-lt"/>
              </a:rPr>
              <a:t>We explored how choices in activation functions, loss functions, optimizers, and hyperparameter tuning affect overall model performance.</a:t>
            </a:r>
            <a:endParaRPr lang="en-US" sz="2000" dirty="0">
              <a:latin typeface="Arial"/>
              <a:cs typeface="Arial"/>
            </a:endParaRPr>
          </a:p>
          <a:p>
            <a:pPr marL="305435" indent="-305435"/>
            <a:r>
              <a:rPr lang="en-US" sz="2000" dirty="0">
                <a:latin typeface="Arial"/>
                <a:ea typeface="+mn-lt"/>
                <a:cs typeface="+mn-lt"/>
              </a:rPr>
              <a:t>Decision thresholds were also tested to understand the balance between precision and recall an important factor in clinical decision-making.</a:t>
            </a:r>
            <a:endParaRPr lang="en-US" sz="2000" dirty="0">
              <a:latin typeface="Arial"/>
              <a:cs typeface="Arial"/>
            </a:endParaRPr>
          </a:p>
          <a:p>
            <a:pPr marL="305435" indent="-305435"/>
            <a:r>
              <a:rPr lang="en-US" sz="2000" dirty="0">
                <a:latin typeface="Arial"/>
                <a:ea typeface="+mn-lt"/>
                <a:cs typeface="+mn-lt"/>
              </a:rPr>
              <a:t>The full dataset is large (about 42 GB), and training on all images requires strong GPU resources.</a:t>
            </a:r>
            <a:endParaRPr lang="en-US" sz="2000" dirty="0">
              <a:latin typeface="Arial"/>
            </a:endParaRPr>
          </a:p>
          <a:p>
            <a:pPr marL="305435" indent="-305435"/>
            <a:endParaRPr lang="en-US" sz="1600" dirty="0"/>
          </a:p>
        </p:txBody>
      </p:sp>
      <p:sp>
        <p:nvSpPr>
          <p:cNvPr id="4" name="Slide Number Placeholder 3">
            <a:extLst>
              <a:ext uri="{FF2B5EF4-FFF2-40B4-BE49-F238E27FC236}">
                <a16:creationId xmlns:a16="http://schemas.microsoft.com/office/drawing/2014/main" id="{BA1E3FC1-0EA5-80DC-B37F-EC1D316E7199}"/>
              </a:ext>
            </a:extLst>
          </p:cNvPr>
          <p:cNvSpPr>
            <a:spLocks noGrp="1"/>
          </p:cNvSpPr>
          <p:nvPr>
            <p:ph type="sldNum" sz="quarter" idx="12"/>
          </p:nvPr>
        </p:nvSpPr>
        <p:spPr/>
        <p:txBody>
          <a:bodyPr/>
          <a:lstStyle/>
          <a:p>
            <a:fld id="{3A98EE3D-8CD1-4C3F-BD1C-C98C9596463C}" type="slidenum">
              <a:rPr lang="en-US" sz="1200" smtClean="0"/>
              <a:t>3</a:t>
            </a:fld>
            <a:endParaRPr lang="en-US" sz="1200" dirty="0"/>
          </a:p>
        </p:txBody>
      </p:sp>
    </p:spTree>
    <p:extLst>
      <p:ext uri="{BB962C8B-B14F-4D97-AF65-F5344CB8AC3E}">
        <p14:creationId xmlns:p14="http://schemas.microsoft.com/office/powerpoint/2010/main" val="1999159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903843E-1FAB-AFBB-BDC9-440FCC8CFB12}"/>
              </a:ext>
            </a:extLst>
          </p:cNvPr>
          <p:cNvSpPr>
            <a:spLocks noGrp="1"/>
          </p:cNvSpPr>
          <p:nvPr>
            <p:ph type="ctrTitle"/>
          </p:nvPr>
        </p:nvSpPr>
        <p:spPr>
          <a:xfrm>
            <a:off x="1524000" y="1143000"/>
            <a:ext cx="9144000" cy="752503"/>
          </a:xfrm>
          <a:noFill/>
        </p:spPr>
        <p:txBody>
          <a:bodyPr/>
          <a:lstStyle/>
          <a:p>
            <a:r>
              <a:rPr lang="en-US" dirty="0"/>
              <a:t>Project description</a:t>
            </a:r>
          </a:p>
        </p:txBody>
      </p:sp>
      <p:sp>
        <p:nvSpPr>
          <p:cNvPr id="20" name="Subtitle 2">
            <a:extLst>
              <a:ext uri="{FF2B5EF4-FFF2-40B4-BE49-F238E27FC236}">
                <a16:creationId xmlns:a16="http://schemas.microsoft.com/office/drawing/2014/main" id="{826664CC-F0B7-D2E1-A321-E97944F52EA3}"/>
              </a:ext>
            </a:extLst>
          </p:cNvPr>
          <p:cNvSpPr>
            <a:spLocks noGrp="1"/>
          </p:cNvSpPr>
          <p:nvPr>
            <p:ph type="subTitle" idx="1"/>
          </p:nvPr>
        </p:nvSpPr>
        <p:spPr>
          <a:xfrm>
            <a:off x="463827" y="1889319"/>
            <a:ext cx="11187042" cy="3962841"/>
          </a:xfrm>
          <a:noFill/>
        </p:spPr>
        <p:txBody>
          <a:bodyPr anchor="t"/>
          <a:lstStyle/>
          <a:p>
            <a:endParaRPr lang="en-US" dirty="0"/>
          </a:p>
          <a:p>
            <a:pPr algn="just"/>
            <a:r>
              <a:rPr lang="en-US" sz="2000" dirty="0">
                <a:latin typeface="Arial"/>
                <a:ea typeface="+mn-lt"/>
                <a:cs typeface="+mn-lt"/>
              </a:rPr>
              <a:t>This project built a deep learning model to classify chest X-rays into multiple disease categories using a subset of the NIH ChestX-ray14 dataset. A smaller preprocessed dataset was used due to the large size of the full dataset and limited GPU resources. It is improved through random-search hyperparameter tuning, testing learning rates, batch sizes, and filter sizes. We also evaluated different decision thresholds to study precision recall tradeoffs important in clinical use. The workflow included data preparation, baseline model design, tuning, evaluation using macro AUC, and interpretation of results.</a:t>
            </a:r>
            <a:endParaRPr lang="en-US" sz="2000" dirty="0">
              <a:latin typeface="Arial"/>
              <a:cs typeface="Arial"/>
            </a:endParaRPr>
          </a:p>
        </p:txBody>
      </p:sp>
      <p:sp>
        <p:nvSpPr>
          <p:cNvPr id="2" name="Slide Number Placeholder 3">
            <a:extLst>
              <a:ext uri="{FF2B5EF4-FFF2-40B4-BE49-F238E27FC236}">
                <a16:creationId xmlns:a16="http://schemas.microsoft.com/office/drawing/2014/main" id="{E439EA9F-31FA-D82C-B341-896E30E18CA7}"/>
              </a:ext>
            </a:extLst>
          </p:cNvPr>
          <p:cNvSpPr txBox="1">
            <a:spLocks/>
          </p:cNvSpPr>
          <p:nvPr/>
        </p:nvSpPr>
        <p:spPr>
          <a:xfrm>
            <a:off x="10558300" y="6423914"/>
            <a:ext cx="105251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A98EE3D-8CD1-4C3F-BD1C-C98C9596463C}" type="slidenum">
              <a:rPr lang="en-US" sz="1200" smtClean="0"/>
              <a:pPr/>
              <a:t>4</a:t>
            </a:fld>
            <a:endParaRPr lang="en-US" sz="1200" dirty="0"/>
          </a:p>
        </p:txBody>
      </p:sp>
    </p:spTree>
    <p:extLst>
      <p:ext uri="{BB962C8B-B14F-4D97-AF65-F5344CB8AC3E}">
        <p14:creationId xmlns:p14="http://schemas.microsoft.com/office/powerpoint/2010/main" val="435195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618A4-5020-A570-BAAC-71C22849B320}"/>
              </a:ext>
            </a:extLst>
          </p:cNvPr>
          <p:cNvSpPr>
            <a:spLocks noGrp="1"/>
          </p:cNvSpPr>
          <p:nvPr>
            <p:ph type="title"/>
          </p:nvPr>
        </p:nvSpPr>
        <p:spPr>
          <a:xfrm>
            <a:off x="457200" y="3267750"/>
            <a:ext cx="3322812" cy="1751963"/>
          </a:xfrm>
        </p:spPr>
        <p:txBody>
          <a:bodyPr/>
          <a:lstStyle/>
          <a:p>
            <a:r>
              <a:rPr lang="en-US" dirty="0"/>
              <a:t>Objectives</a:t>
            </a:r>
          </a:p>
        </p:txBody>
      </p:sp>
      <p:pic>
        <p:nvPicPr>
          <p:cNvPr id="16" name="Picture Placeholder 15" descr="A group of surgeons wearing surgical caps and masks">
            <a:extLst>
              <a:ext uri="{FF2B5EF4-FFF2-40B4-BE49-F238E27FC236}">
                <a16:creationId xmlns:a16="http://schemas.microsoft.com/office/drawing/2014/main" id="{6EFD6230-A50E-3A63-7B72-59A8449CAEE2}"/>
              </a:ext>
            </a:extLst>
          </p:cNvPr>
          <p:cNvPicPr>
            <a:picLocks noGrp="1" noChangeAspect="1"/>
          </p:cNvPicPr>
          <p:nvPr>
            <p:ph type="pic" sz="quarter" idx="19"/>
          </p:nvPr>
        </p:nvPicPr>
        <p:blipFill rotWithShape="1">
          <a:blip r:embed="rId3"/>
          <a:srcRect t="35757" b="35757"/>
          <a:stretch/>
        </p:blipFill>
        <p:spPr/>
      </p:pic>
      <p:sp>
        <p:nvSpPr>
          <p:cNvPr id="10" name="Content Placeholder 9">
            <a:extLst>
              <a:ext uri="{FF2B5EF4-FFF2-40B4-BE49-F238E27FC236}">
                <a16:creationId xmlns:a16="http://schemas.microsoft.com/office/drawing/2014/main" id="{C9475E86-FFB0-87BC-084C-C728916152B0}"/>
              </a:ext>
            </a:extLst>
          </p:cNvPr>
          <p:cNvSpPr>
            <a:spLocks noGrp="1"/>
          </p:cNvSpPr>
          <p:nvPr>
            <p:ph sz="quarter" idx="4"/>
          </p:nvPr>
        </p:nvSpPr>
        <p:spPr>
          <a:xfrm>
            <a:off x="4305827" y="3253043"/>
            <a:ext cx="7418813" cy="3065533"/>
          </a:xfrm>
        </p:spPr>
        <p:txBody>
          <a:bodyPr/>
          <a:lstStyle/>
          <a:p>
            <a:pPr marL="0" indent="0">
              <a:buNone/>
            </a:pPr>
            <a:r>
              <a:rPr lang="en-US" sz="2000">
                <a:solidFill>
                  <a:srgbClr val="000000"/>
                </a:solidFill>
                <a:latin typeface="Calibri"/>
                <a:ea typeface="Calibri"/>
                <a:cs typeface="Calibri"/>
              </a:rPr>
              <a:t>The primary objective of this study is to develop a deep learning model for classifying medical images using a pre-processed subset of the ChestX-ray14 dataset. Specifically, the study aims to:</a:t>
            </a:r>
            <a:endParaRPr lang="en-US" dirty="0">
              <a:solidFill>
                <a:srgbClr val="404040"/>
              </a:solidFill>
              <a:latin typeface="Gill Sans MT" panose="020B0502020104020203"/>
              <a:ea typeface="Calibri"/>
              <a:cs typeface="Calibri"/>
            </a:endParaRPr>
          </a:p>
          <a:p>
            <a:pPr marL="283210" indent="-283210"/>
            <a:r>
              <a:rPr lang="en-US" sz="2000"/>
              <a:t>Model Development</a:t>
            </a:r>
          </a:p>
          <a:p>
            <a:pPr marL="283210" indent="-283210"/>
            <a:r>
              <a:rPr lang="en-US" sz="2000"/>
              <a:t>Hyperparameter Tuning</a:t>
            </a:r>
          </a:p>
          <a:p>
            <a:pPr marL="283210" indent="-283210"/>
            <a:r>
              <a:rPr lang="en-US" sz="2000"/>
              <a:t>Model Validation and Evaluation</a:t>
            </a:r>
            <a:endParaRPr lang="en-US" sz="2000" dirty="0"/>
          </a:p>
        </p:txBody>
      </p:sp>
      <p:sp>
        <p:nvSpPr>
          <p:cNvPr id="3" name="Slide Number Placeholder 2">
            <a:extLst>
              <a:ext uri="{FF2B5EF4-FFF2-40B4-BE49-F238E27FC236}">
                <a16:creationId xmlns:a16="http://schemas.microsoft.com/office/drawing/2014/main" id="{3C34B1A8-ECDC-5522-FAB6-915A365F1CF1}"/>
              </a:ext>
            </a:extLst>
          </p:cNvPr>
          <p:cNvSpPr>
            <a:spLocks noGrp="1"/>
          </p:cNvSpPr>
          <p:nvPr>
            <p:ph type="sldNum" sz="quarter" idx="18"/>
          </p:nvPr>
        </p:nvSpPr>
        <p:spPr/>
        <p:txBody>
          <a:bodyPr/>
          <a:lstStyle/>
          <a:p>
            <a:fld id="{3A98EE3D-8CD1-4C3F-BD1C-C98C9596463C}" type="slidenum">
              <a:rPr lang="en-US" sz="1400" smtClean="0"/>
              <a:t>5</a:t>
            </a:fld>
            <a:endParaRPr lang="en-US" sz="1400" dirty="0"/>
          </a:p>
        </p:txBody>
      </p:sp>
    </p:spTree>
    <p:extLst>
      <p:ext uri="{BB962C8B-B14F-4D97-AF65-F5344CB8AC3E}">
        <p14:creationId xmlns:p14="http://schemas.microsoft.com/office/powerpoint/2010/main" val="3695820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C73AF-74E9-7110-10C5-A90F1BC40B8E}"/>
              </a:ext>
            </a:extLst>
          </p:cNvPr>
          <p:cNvSpPr>
            <a:spLocks noGrp="1"/>
          </p:cNvSpPr>
          <p:nvPr>
            <p:ph type="title"/>
          </p:nvPr>
        </p:nvSpPr>
        <p:spPr>
          <a:xfrm>
            <a:off x="581192" y="702156"/>
            <a:ext cx="11029616" cy="828887"/>
          </a:xfrm>
        </p:spPr>
        <p:txBody>
          <a:bodyPr/>
          <a:lstStyle/>
          <a:p>
            <a:r>
              <a:rPr lang="en-US"/>
              <a:t>Literature Review</a:t>
            </a:r>
          </a:p>
        </p:txBody>
      </p:sp>
      <p:sp>
        <p:nvSpPr>
          <p:cNvPr id="3" name="Content Placeholder 2">
            <a:extLst>
              <a:ext uri="{FF2B5EF4-FFF2-40B4-BE49-F238E27FC236}">
                <a16:creationId xmlns:a16="http://schemas.microsoft.com/office/drawing/2014/main" id="{7F874FFC-CC0B-7974-D121-D347FCC84433}"/>
              </a:ext>
            </a:extLst>
          </p:cNvPr>
          <p:cNvSpPr>
            <a:spLocks noGrp="1"/>
          </p:cNvSpPr>
          <p:nvPr>
            <p:ph idx="1"/>
          </p:nvPr>
        </p:nvSpPr>
        <p:spPr>
          <a:xfrm>
            <a:off x="581192" y="1705864"/>
            <a:ext cx="11029615" cy="4269486"/>
          </a:xfrm>
        </p:spPr>
        <p:txBody>
          <a:bodyPr>
            <a:normAutofit/>
          </a:bodyPr>
          <a:lstStyle/>
          <a:p>
            <a:pPr marL="305435" indent="-305435"/>
            <a:r>
              <a:rPr lang="en-US" sz="2000">
                <a:latin typeface="Arial"/>
                <a:ea typeface="+mn-lt"/>
                <a:cs typeface="+mn-lt"/>
              </a:rPr>
              <a:t>Deep learning has become central to medical image analysis, with surveys by Litjens et al. (2017) showing CNNs as the leading method for detection, classification, and segmentation tasks. A major boost to the field came from the ChestX-ray14 dataset, which enabled large-scale training and benchmarking for thoracic disease classification. Foundational work by Goodfellow et al. (2016) established CNNs as powerful hierarchical feature extractors that outperform traditional handcrafted approaches. Training efficiency has been further improved through optimization methods like Adam and systematic hyperparameter tuning strategies, all of which contribute to building high-performing deep learning models in medical imaging.</a:t>
            </a:r>
            <a:endParaRPr lang="en-US" sz="2000">
              <a:latin typeface="Arial"/>
            </a:endParaRPr>
          </a:p>
        </p:txBody>
      </p:sp>
      <p:sp>
        <p:nvSpPr>
          <p:cNvPr id="4" name="Slide Number Placeholder 3">
            <a:extLst>
              <a:ext uri="{FF2B5EF4-FFF2-40B4-BE49-F238E27FC236}">
                <a16:creationId xmlns:a16="http://schemas.microsoft.com/office/drawing/2014/main" id="{7314C863-2732-6388-1242-76BC241BE056}"/>
              </a:ext>
            </a:extLst>
          </p:cNvPr>
          <p:cNvSpPr>
            <a:spLocks noGrp="1"/>
          </p:cNvSpPr>
          <p:nvPr>
            <p:ph type="sldNum" sz="quarter" idx="12"/>
          </p:nvPr>
        </p:nvSpPr>
        <p:spPr/>
        <p:txBody>
          <a:bodyPr/>
          <a:lstStyle/>
          <a:p>
            <a:fld id="{3A98EE3D-8CD1-4C3F-BD1C-C98C9596463C}" type="slidenum">
              <a:rPr lang="en-US" sz="1600" smtClean="0"/>
              <a:t>6</a:t>
            </a:fld>
            <a:endParaRPr lang="en-US" sz="1600" dirty="0"/>
          </a:p>
        </p:txBody>
      </p:sp>
    </p:spTree>
    <p:extLst>
      <p:ext uri="{BB962C8B-B14F-4D97-AF65-F5344CB8AC3E}">
        <p14:creationId xmlns:p14="http://schemas.microsoft.com/office/powerpoint/2010/main" val="1101129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F0FD1A0-C075-EE18-B3AE-363C242D0BCE}"/>
              </a:ext>
            </a:extLst>
          </p:cNvPr>
          <p:cNvSpPr>
            <a:spLocks noGrp="1"/>
          </p:cNvSpPr>
          <p:nvPr>
            <p:ph type="title"/>
          </p:nvPr>
        </p:nvSpPr>
        <p:spPr/>
        <p:txBody>
          <a:bodyPr/>
          <a:lstStyle/>
          <a:p>
            <a:r>
              <a:rPr lang="en-US" dirty="0"/>
              <a:t>Data source</a:t>
            </a:r>
          </a:p>
        </p:txBody>
      </p:sp>
      <p:sp>
        <p:nvSpPr>
          <p:cNvPr id="34" name="Content Placeholder 33">
            <a:extLst>
              <a:ext uri="{FF2B5EF4-FFF2-40B4-BE49-F238E27FC236}">
                <a16:creationId xmlns:a16="http://schemas.microsoft.com/office/drawing/2014/main" id="{C69167C3-302B-24DE-9CF7-D85D5D5DD20A}"/>
              </a:ext>
            </a:extLst>
          </p:cNvPr>
          <p:cNvSpPr>
            <a:spLocks noGrp="1"/>
          </p:cNvSpPr>
          <p:nvPr>
            <p:ph sz="half" idx="13"/>
          </p:nvPr>
        </p:nvSpPr>
        <p:spPr/>
        <p:txBody>
          <a:bodyPr/>
          <a:lstStyle/>
          <a:p>
            <a:endParaRPr lang="en-US" dirty="0"/>
          </a:p>
          <a:p>
            <a:endParaRPr lang="en-US" dirty="0"/>
          </a:p>
        </p:txBody>
      </p:sp>
      <p:sp>
        <p:nvSpPr>
          <p:cNvPr id="20" name="Content Placeholder 3">
            <a:extLst>
              <a:ext uri="{FF2B5EF4-FFF2-40B4-BE49-F238E27FC236}">
                <a16:creationId xmlns:a16="http://schemas.microsoft.com/office/drawing/2014/main" id="{7C987B03-58AE-7E8A-A1C7-83569FBBCD1F}"/>
              </a:ext>
            </a:extLst>
          </p:cNvPr>
          <p:cNvSpPr>
            <a:spLocks noGrp="1"/>
          </p:cNvSpPr>
          <p:nvPr>
            <p:ph sz="half" idx="2"/>
          </p:nvPr>
        </p:nvSpPr>
        <p:spPr>
          <a:xfrm>
            <a:off x="593916" y="2187361"/>
            <a:ext cx="11130724" cy="3633047"/>
          </a:xfrm>
          <a:noFill/>
        </p:spPr>
        <p:txBody>
          <a:bodyPr>
            <a:normAutofit/>
          </a:bodyPr>
          <a:lstStyle/>
          <a:p>
            <a:r>
              <a:rPr lang="en-US">
                <a:ea typeface="+mn-lt"/>
                <a:cs typeface="+mn-lt"/>
              </a:rPr>
              <a:t>The study uses the NIH ChestX-ray14 dataset, containing 112,120 frontal chest X-rays from 30,805 patients, </a:t>
            </a:r>
            <a:r>
              <a:rPr lang="en-US" dirty="0">
                <a:ea typeface="+mn-lt"/>
                <a:cs typeface="+mn-lt"/>
              </a:rPr>
              <a:t>annotated for 14 thoracic diseases. The dataset includes demographic information (age, gender) and image acquisition details (PA and AP views). Disease labels include Infiltration, Atelectasis, Pneumonia, Pneumothorax, Consolidation, Edema, Emphysema, Fibrosis, Effusion, Pleural Thickening, Cardiomegaly, Nodule, Mass, and Hernia. The dataset is highly imbalanced, with “No Finding” accounting for 53.8% of images and disease prevalence ranging from 0.2% (Hernia) to 17.7% (Infiltration).</a:t>
            </a:r>
            <a:endParaRPr lang="en-US" dirty="0"/>
          </a:p>
        </p:txBody>
      </p:sp>
      <p:sp>
        <p:nvSpPr>
          <p:cNvPr id="2" name="Slide Number Placeholder 1">
            <a:extLst>
              <a:ext uri="{FF2B5EF4-FFF2-40B4-BE49-F238E27FC236}">
                <a16:creationId xmlns:a16="http://schemas.microsoft.com/office/drawing/2014/main" id="{229B4F3B-7092-7D54-0A99-E2E79B46F9B4}"/>
              </a:ext>
            </a:extLst>
          </p:cNvPr>
          <p:cNvSpPr>
            <a:spLocks noGrp="1"/>
          </p:cNvSpPr>
          <p:nvPr>
            <p:ph type="sldNum" sz="quarter" idx="12"/>
          </p:nvPr>
        </p:nvSpPr>
        <p:spPr/>
        <p:txBody>
          <a:bodyPr/>
          <a:lstStyle/>
          <a:p>
            <a:fld id="{3A98EE3D-8CD1-4C3F-BD1C-C98C9596463C}" type="slidenum">
              <a:rPr lang="en-US" sz="1200" smtClean="0"/>
              <a:t>7</a:t>
            </a:fld>
            <a:endParaRPr lang="en-US" sz="1200" dirty="0"/>
          </a:p>
        </p:txBody>
      </p:sp>
    </p:spTree>
    <p:extLst>
      <p:ext uri="{BB962C8B-B14F-4D97-AF65-F5344CB8AC3E}">
        <p14:creationId xmlns:p14="http://schemas.microsoft.com/office/powerpoint/2010/main" val="837402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BA544F6-BF8C-2C87-3906-146BEDB4C299}"/>
              </a:ext>
            </a:extLst>
          </p:cNvPr>
          <p:cNvSpPr>
            <a:spLocks noGrp="1"/>
          </p:cNvSpPr>
          <p:nvPr>
            <p:ph type="title"/>
          </p:nvPr>
        </p:nvSpPr>
        <p:spPr/>
        <p:txBody>
          <a:bodyPr/>
          <a:lstStyle/>
          <a:p>
            <a:r>
              <a:rPr lang="en-US" dirty="0"/>
              <a:t>methodology</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2"/>
          </p:nvPr>
        </p:nvSpPr>
        <p:spPr>
          <a:xfrm>
            <a:off x="461854" y="2187361"/>
            <a:ext cx="11262786" cy="4151630"/>
          </a:xfrm>
          <a:noFill/>
        </p:spPr>
        <p:txBody>
          <a:bodyPr vert="horz" lIns="91440" tIns="45720" rIns="91440" bIns="45720" rtlCol="0" anchor="t">
            <a:noAutofit/>
          </a:bodyPr>
          <a:lstStyle/>
          <a:p>
            <a:pPr marL="285750" indent="-285750">
              <a:buFont typeface="Arial" panose="05020102010507070707" pitchFamily="18" charset="2"/>
              <a:buChar char="•"/>
            </a:pPr>
            <a:r>
              <a:rPr lang="en-US" sz="2000" b="1" dirty="0"/>
              <a:t>Data Preprocessing :</a:t>
            </a:r>
            <a:r>
              <a:rPr lang="en-US" sz="2000" dirty="0">
                <a:ea typeface="+mn-lt"/>
                <a:cs typeface="+mn-lt"/>
              </a:rPr>
              <a:t> Firstly we resized all the iamges. Pixel values were normalized to the [0,1] range by dividing by 255. Grayscale X-rays were converted to RGB by stacking the single channel three times to match CNN input requirements. </a:t>
            </a:r>
          </a:p>
          <a:p>
            <a:pPr marL="285750" indent="-285750">
              <a:buFont typeface="Arial" panose="05020102010507070707" pitchFamily="18" charset="2"/>
              <a:buChar char="•"/>
            </a:pPr>
            <a:r>
              <a:rPr lang="en-US" sz="2000" b="1" dirty="0">
                <a:ea typeface="+mn-lt"/>
                <a:cs typeface="+mn-lt"/>
              </a:rPr>
              <a:t>Baseline CNN Architecture :</a:t>
            </a:r>
            <a:r>
              <a:rPr lang="en-US" sz="2000" dirty="0">
                <a:ea typeface="+mn-lt"/>
                <a:cs typeface="+mn-lt"/>
              </a:rPr>
              <a:t> The baseline model is a convlutional neural network(CNN) using the pretrained DenseNet architecture as the feature extraction.</a:t>
            </a:r>
          </a:p>
          <a:p>
            <a:pPr marL="285750" indent="-285750">
              <a:buFont typeface="Arial" panose="05020102010507070707" pitchFamily="18" charset="2"/>
              <a:buChar char="•"/>
            </a:pPr>
            <a:r>
              <a:rPr lang="en-US" sz="2000" b="1"/>
              <a:t>Training Protocol :  </a:t>
            </a:r>
            <a:r>
              <a:rPr lang="en-US" sz="2000" dirty="0"/>
              <a:t> </a:t>
            </a:r>
            <a:r>
              <a:rPr lang="en-US" sz="2000">
                <a:solidFill>
                  <a:srgbClr val="000000"/>
                </a:solidFill>
                <a:latin typeface="Calibri"/>
                <a:ea typeface="Calibri"/>
                <a:cs typeface="Calibri"/>
              </a:rPr>
              <a:t>Training incorporated several optimization strategies to improve convergence and prevent overfitting. Early stopping was applied by monitoring the validation loss with a patience of five epochs, restoring the model weights from the best-performing epoch. </a:t>
            </a:r>
          </a:p>
        </p:txBody>
      </p:sp>
      <p:sp>
        <p:nvSpPr>
          <p:cNvPr id="2" name="Slide Number Placeholder 1">
            <a:extLst>
              <a:ext uri="{FF2B5EF4-FFF2-40B4-BE49-F238E27FC236}">
                <a16:creationId xmlns:a16="http://schemas.microsoft.com/office/drawing/2014/main" id="{25CABE90-25B7-41F7-E06A-0DDD60054371}"/>
              </a:ext>
            </a:extLst>
          </p:cNvPr>
          <p:cNvSpPr>
            <a:spLocks noGrp="1"/>
          </p:cNvSpPr>
          <p:nvPr>
            <p:ph type="sldNum" sz="quarter" idx="12"/>
          </p:nvPr>
        </p:nvSpPr>
        <p:spPr/>
        <p:txBody>
          <a:bodyPr/>
          <a:lstStyle/>
          <a:p>
            <a:fld id="{3A98EE3D-8CD1-4C3F-BD1C-C98C9596463C}" type="slidenum">
              <a:rPr lang="en-US" smtClean="0"/>
              <a:t>8</a:t>
            </a:fld>
            <a:endParaRPr lang="en-US" dirty="0"/>
          </a:p>
        </p:txBody>
      </p:sp>
    </p:spTree>
    <p:extLst>
      <p:ext uri="{BB962C8B-B14F-4D97-AF65-F5344CB8AC3E}">
        <p14:creationId xmlns:p14="http://schemas.microsoft.com/office/powerpoint/2010/main" val="267690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9" name="Rectangle 58">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 name="Rectangle 60">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Rectangle 62">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Title 25">
            <a:extLst>
              <a:ext uri="{FF2B5EF4-FFF2-40B4-BE49-F238E27FC236}">
                <a16:creationId xmlns:a16="http://schemas.microsoft.com/office/drawing/2014/main" id="{D715DBBC-70C2-E94B-9B03-12910F0B5438}"/>
              </a:ext>
            </a:extLst>
          </p:cNvPr>
          <p:cNvSpPr>
            <a:spLocks noGrp="1"/>
          </p:cNvSpPr>
          <p:nvPr>
            <p:ph type="ctrTitle"/>
          </p:nvPr>
        </p:nvSpPr>
        <p:spPr>
          <a:xfrm>
            <a:off x="635883" y="355791"/>
            <a:ext cx="3057775" cy="741509"/>
          </a:xfrm>
        </p:spPr>
        <p:txBody>
          <a:bodyPr vert="horz" lIns="91440" tIns="45720" rIns="91440" bIns="45720" rtlCol="0" anchor="b">
            <a:normAutofit/>
          </a:bodyPr>
          <a:lstStyle/>
          <a:p>
            <a:r>
              <a:rPr lang="en-US"/>
              <a:t>results</a:t>
            </a:r>
          </a:p>
        </p:txBody>
      </p:sp>
      <p:sp>
        <p:nvSpPr>
          <p:cNvPr id="65" name="Rectangle 64">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Picture 5" descr="A graph of disease distribution">
            <a:extLst>
              <a:ext uri="{FF2B5EF4-FFF2-40B4-BE49-F238E27FC236}">
                <a16:creationId xmlns:a16="http://schemas.microsoft.com/office/drawing/2014/main" id="{BDDF5E55-96AC-C33D-EC24-C943F27CAC0D}"/>
              </a:ext>
            </a:extLst>
          </p:cNvPr>
          <p:cNvPicPr>
            <a:picLocks noChangeAspect="1"/>
          </p:cNvPicPr>
          <p:nvPr/>
        </p:nvPicPr>
        <p:blipFill>
          <a:blip r:embed="rId3"/>
          <a:stretch>
            <a:fillRect/>
          </a:stretch>
        </p:blipFill>
        <p:spPr>
          <a:xfrm>
            <a:off x="632546" y="1104034"/>
            <a:ext cx="10355408" cy="4234297"/>
          </a:xfrm>
          <a:prstGeom prst="rect">
            <a:avLst/>
          </a:prstGeom>
        </p:spPr>
      </p:pic>
      <p:sp>
        <p:nvSpPr>
          <p:cNvPr id="7" name="TextBox 6">
            <a:extLst>
              <a:ext uri="{FF2B5EF4-FFF2-40B4-BE49-F238E27FC236}">
                <a16:creationId xmlns:a16="http://schemas.microsoft.com/office/drawing/2014/main" id="{291FEBDD-8244-8A76-2870-5B3E2D24D424}"/>
              </a:ext>
            </a:extLst>
          </p:cNvPr>
          <p:cNvSpPr txBox="1"/>
          <p:nvPr/>
        </p:nvSpPr>
        <p:spPr>
          <a:xfrm>
            <a:off x="630300" y="5544929"/>
            <a:ext cx="1054503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Observation:</a:t>
            </a:r>
          </a:p>
          <a:p>
            <a:pPr marL="285750" indent="-285750">
              <a:buFont typeface="Arial"/>
              <a:buChar char="•"/>
            </a:pPr>
            <a:r>
              <a:rPr lang="en-US" dirty="0">
                <a:ea typeface="+mn-lt"/>
                <a:cs typeface="+mn-lt"/>
              </a:rPr>
              <a:t>The label counts show imbalance. No Finding dominates the dataset with more than 60,000 cases.</a:t>
            </a:r>
            <a:endParaRPr lang="en-US" dirty="0"/>
          </a:p>
          <a:p>
            <a:pPr marL="285750" indent="-285750">
              <a:buFont typeface="Arial"/>
              <a:buChar char="•"/>
            </a:pPr>
            <a:r>
              <a:rPr lang="en-US" dirty="0">
                <a:ea typeface="+mn-lt"/>
                <a:cs typeface="+mn-lt"/>
              </a:rPr>
              <a:t>Lower-frequency classes like Nodule, Mass, Pneumothorax, and Cardiomegaly sit in the long tail, which makes them harder for a CNN to learn without threshold tuning, class balancing, or careful evaluation</a:t>
            </a:r>
            <a:endParaRPr lang="en-US" dirty="0"/>
          </a:p>
          <a:p>
            <a:pPr algn="l"/>
            <a:endParaRPr lang="en-US" dirty="0"/>
          </a:p>
        </p:txBody>
      </p:sp>
      <p:sp>
        <p:nvSpPr>
          <p:cNvPr id="2" name="Slide Number Placeholder 1">
            <a:extLst>
              <a:ext uri="{FF2B5EF4-FFF2-40B4-BE49-F238E27FC236}">
                <a16:creationId xmlns:a16="http://schemas.microsoft.com/office/drawing/2014/main" id="{78312C31-0A97-25A3-2BAA-9A41FA472624}"/>
              </a:ext>
            </a:extLst>
          </p:cNvPr>
          <p:cNvSpPr>
            <a:spLocks noGrp="1"/>
          </p:cNvSpPr>
          <p:nvPr>
            <p:ph type="sldNum" sz="quarter" idx="12"/>
          </p:nvPr>
        </p:nvSpPr>
        <p:spPr/>
        <p:txBody>
          <a:bodyPr/>
          <a:lstStyle/>
          <a:p>
            <a:fld id="{CBD12358-51D2-46B3-9BDE-DF29528B9454}" type="slidenum">
              <a:rPr lang="en-US" smtClean="0"/>
              <a:t>9</a:t>
            </a:fld>
            <a:endParaRPr lang="en-US" dirty="0"/>
          </a:p>
        </p:txBody>
      </p:sp>
    </p:spTree>
    <p:extLst>
      <p:ext uri="{BB962C8B-B14F-4D97-AF65-F5344CB8AC3E}">
        <p14:creationId xmlns:p14="http://schemas.microsoft.com/office/powerpoint/2010/main" val="385444247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age distribution&#10;&#10;">
            <a:extLst>
              <a:ext uri="{FF2B5EF4-FFF2-40B4-BE49-F238E27FC236}">
                <a16:creationId xmlns:a16="http://schemas.microsoft.com/office/drawing/2014/main" id="{70CDCBC0-D6DF-A818-2310-55E19DB1389E}"/>
              </a:ext>
            </a:extLst>
          </p:cNvPr>
          <p:cNvPicPr>
            <a:picLocks noGrp="1" noChangeAspect="1"/>
          </p:cNvPicPr>
          <p:nvPr>
            <p:ph idx="1"/>
          </p:nvPr>
        </p:nvPicPr>
        <p:blipFill>
          <a:blip r:embed="rId2"/>
          <a:srcRect r="-1078" b="-1633"/>
          <a:stretch>
            <a:fillRect/>
          </a:stretch>
        </p:blipFill>
        <p:spPr>
          <a:xfrm>
            <a:off x="893022" y="809191"/>
            <a:ext cx="10199511" cy="4081916"/>
          </a:xfrm>
          <a:prstGeom prst="rect">
            <a:avLst/>
          </a:prstGeom>
        </p:spPr>
      </p:pic>
      <p:sp>
        <p:nvSpPr>
          <p:cNvPr id="6" name="TextBox 5">
            <a:extLst>
              <a:ext uri="{FF2B5EF4-FFF2-40B4-BE49-F238E27FC236}">
                <a16:creationId xmlns:a16="http://schemas.microsoft.com/office/drawing/2014/main" id="{EAE4BE32-1032-4FFD-850D-1902888835BF}"/>
              </a:ext>
            </a:extLst>
          </p:cNvPr>
          <p:cNvSpPr txBox="1"/>
          <p:nvPr/>
        </p:nvSpPr>
        <p:spPr>
          <a:xfrm>
            <a:off x="891565" y="4885591"/>
            <a:ext cx="1007745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Observation</a:t>
            </a:r>
            <a:endParaRPr lang="en-US" dirty="0"/>
          </a:p>
          <a:p>
            <a:pPr marL="285750" indent="-285750">
              <a:buFont typeface="Arial"/>
              <a:buChar char="•"/>
            </a:pPr>
            <a:r>
              <a:rPr lang="en-US" dirty="0">
                <a:ea typeface="+mn-lt"/>
                <a:cs typeface="+mn-lt"/>
              </a:rPr>
              <a:t>The age curves for No Finding and ≥1 Disease overlap almost completely. This shows that age alone does not separate healthy from diseased cases in this dataset.</a:t>
            </a:r>
            <a:endParaRPr lang="en-US" dirty="0"/>
          </a:p>
          <a:p>
            <a:pPr marL="285750" indent="-285750">
              <a:buFont typeface="Arial"/>
              <a:buChar char="•"/>
            </a:pPr>
            <a:r>
              <a:rPr lang="en-US" dirty="0">
                <a:ea typeface="+mn-lt"/>
                <a:cs typeface="+mn-lt"/>
              </a:rPr>
              <a:t>Both groups peak around the same adult age range, with only small shifts in density.</a:t>
            </a:r>
            <a:endParaRPr lang="en-US" dirty="0"/>
          </a:p>
          <a:p>
            <a:pPr marL="285750" indent="-285750">
              <a:buFont typeface="Arial"/>
              <a:buChar char="•"/>
            </a:pPr>
            <a:endParaRPr lang="en-US" dirty="0"/>
          </a:p>
          <a:p>
            <a:pPr algn="l"/>
            <a:endParaRPr lang="en-US" dirty="0"/>
          </a:p>
        </p:txBody>
      </p:sp>
      <p:sp>
        <p:nvSpPr>
          <p:cNvPr id="2" name="Slide Number Placeholder 1">
            <a:extLst>
              <a:ext uri="{FF2B5EF4-FFF2-40B4-BE49-F238E27FC236}">
                <a16:creationId xmlns:a16="http://schemas.microsoft.com/office/drawing/2014/main" id="{9C66CD63-4AEA-3B02-A65E-DA09529AE7E2}"/>
              </a:ext>
            </a:extLst>
          </p:cNvPr>
          <p:cNvSpPr>
            <a:spLocks noGrp="1"/>
          </p:cNvSpPr>
          <p:nvPr>
            <p:ph type="sldNum" sz="quarter" idx="12"/>
          </p:nvPr>
        </p:nvSpPr>
        <p:spPr/>
        <p:txBody>
          <a:bodyPr/>
          <a:lstStyle/>
          <a:p>
            <a:fld id="{CBD12358-51D2-46B3-9BDE-DF29528B9454}" type="slidenum">
              <a:rPr lang="en-US" smtClean="0"/>
              <a:t>10</a:t>
            </a:fld>
            <a:endParaRPr lang="en-US" dirty="0"/>
          </a:p>
        </p:txBody>
      </p:sp>
    </p:spTree>
    <p:extLst>
      <p:ext uri="{BB962C8B-B14F-4D97-AF65-F5344CB8AC3E}">
        <p14:creationId xmlns:p14="http://schemas.microsoft.com/office/powerpoint/2010/main" val="3654043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blue and orange bars">
            <a:extLst>
              <a:ext uri="{FF2B5EF4-FFF2-40B4-BE49-F238E27FC236}">
                <a16:creationId xmlns:a16="http://schemas.microsoft.com/office/drawing/2014/main" id="{FEDF4823-F0C3-03BF-257C-1029BE684E1A}"/>
              </a:ext>
            </a:extLst>
          </p:cNvPr>
          <p:cNvPicPr>
            <a:picLocks noChangeAspect="1"/>
          </p:cNvPicPr>
          <p:nvPr/>
        </p:nvPicPr>
        <p:blipFill>
          <a:blip r:embed="rId2"/>
          <a:stretch>
            <a:fillRect/>
          </a:stretch>
        </p:blipFill>
        <p:spPr>
          <a:xfrm>
            <a:off x="883708" y="957792"/>
            <a:ext cx="6794500" cy="4497916"/>
          </a:xfrm>
          <a:prstGeom prst="rect">
            <a:avLst/>
          </a:prstGeom>
        </p:spPr>
      </p:pic>
      <p:sp>
        <p:nvSpPr>
          <p:cNvPr id="3" name="TextBox 2">
            <a:extLst>
              <a:ext uri="{FF2B5EF4-FFF2-40B4-BE49-F238E27FC236}">
                <a16:creationId xmlns:a16="http://schemas.microsoft.com/office/drawing/2014/main" id="{B8256826-C94E-1AA9-27D0-587C9B3AAE6F}"/>
              </a:ext>
            </a:extLst>
          </p:cNvPr>
          <p:cNvSpPr txBox="1"/>
          <p:nvPr/>
        </p:nvSpPr>
        <p:spPr>
          <a:xfrm>
            <a:off x="7975893" y="3200014"/>
            <a:ext cx="4066116" cy="34700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Observations</a:t>
            </a:r>
            <a:endParaRPr lang="en-US" dirty="0"/>
          </a:p>
          <a:p>
            <a:pPr marL="285750" indent="-285750">
              <a:buFont typeface="Arial"/>
              <a:buChar char="•"/>
            </a:pPr>
            <a:r>
              <a:rPr lang="en-US" sz="2000" dirty="0">
                <a:ea typeface="+mn-lt"/>
                <a:cs typeface="+mn-lt"/>
              </a:rPr>
              <a:t>The gender distribution is similar across both groups. Males appear slightly more often in both the No Finding and Has Finding categories, but the proportions differ by less than one percent.</a:t>
            </a:r>
            <a:endParaRPr lang="en-US" sz="2000"/>
          </a:p>
          <a:p>
            <a:pPr marL="285750" indent="-285750">
              <a:buFont typeface="Arial"/>
              <a:buChar char="•"/>
            </a:pPr>
            <a:r>
              <a:rPr lang="en-US" sz="2000" dirty="0">
                <a:ea typeface="+mn-lt"/>
                <a:cs typeface="+mn-lt"/>
              </a:rPr>
              <a:t>This suggests gender is not a strong distinguishing factor for disease presence in this dataset.</a:t>
            </a:r>
            <a:endParaRPr lang="en-US" sz="2000" dirty="0"/>
          </a:p>
          <a:p>
            <a:pPr algn="l"/>
            <a:endParaRPr lang="en-US" dirty="0"/>
          </a:p>
        </p:txBody>
      </p:sp>
      <p:sp>
        <p:nvSpPr>
          <p:cNvPr id="4" name="Slide Number Placeholder 3">
            <a:extLst>
              <a:ext uri="{FF2B5EF4-FFF2-40B4-BE49-F238E27FC236}">
                <a16:creationId xmlns:a16="http://schemas.microsoft.com/office/drawing/2014/main" id="{7921B3F8-20BF-0E2F-4BD5-BB1322A58C20}"/>
              </a:ext>
            </a:extLst>
          </p:cNvPr>
          <p:cNvSpPr>
            <a:spLocks noGrp="1"/>
          </p:cNvSpPr>
          <p:nvPr>
            <p:ph type="sldNum" sz="quarter" idx="12"/>
          </p:nvPr>
        </p:nvSpPr>
        <p:spPr/>
        <p:txBody>
          <a:bodyPr/>
          <a:lstStyle/>
          <a:p>
            <a:fld id="{3A98EE3D-8CD1-4C3F-BD1C-C98C9596463C}" type="slidenum">
              <a:rPr lang="en-US" smtClean="0"/>
              <a:t>11</a:t>
            </a:fld>
            <a:endParaRPr lang="en-US" dirty="0"/>
          </a:p>
        </p:txBody>
      </p:sp>
    </p:spTree>
    <p:extLst>
      <p:ext uri="{BB962C8B-B14F-4D97-AF65-F5344CB8AC3E}">
        <p14:creationId xmlns:p14="http://schemas.microsoft.com/office/powerpoint/2010/main" val="1245442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2FE077-1B51-2361-762E-D264D10778BC}"/>
              </a:ext>
            </a:extLst>
          </p:cNvPr>
          <p:cNvSpPr txBox="1"/>
          <p:nvPr/>
        </p:nvSpPr>
        <p:spPr>
          <a:xfrm>
            <a:off x="511628" y="893526"/>
            <a:ext cx="10602686" cy="2308324"/>
          </a:xfrm>
          <a:prstGeom prst="rect">
            <a:avLst/>
          </a:prstGeom>
          <a:noFill/>
        </p:spPr>
        <p:txBody>
          <a:bodyPr wrap="square">
            <a:spAutoFit/>
          </a:bodyPr>
          <a:lstStyle/>
          <a:p>
            <a:pPr>
              <a:buNone/>
            </a:pPr>
            <a:r>
              <a:rPr lang="en-US" sz="1800" b="1" spc="-10" dirty="0">
                <a:effectLst/>
                <a:latin typeface="Calibri" panose="020F0502020204030204" pitchFamily="34" charset="0"/>
                <a:ea typeface="Trebuchet MS" panose="020B0703020202090204" pitchFamily="34" charset="0"/>
                <a:cs typeface="Trebuchet MS" panose="020B0703020202090204" pitchFamily="34" charset="0"/>
              </a:rPr>
              <a:t>Data Split</a:t>
            </a:r>
            <a:endParaRPr lang="en-CA" sz="1600" dirty="0">
              <a:effectLst/>
              <a:latin typeface="Trebuchet MS" panose="020B0703020202090204" pitchFamily="34" charset="0"/>
              <a:ea typeface="Trebuchet MS" panose="020B0703020202090204" pitchFamily="34" charset="0"/>
              <a:cs typeface="Trebuchet MS" panose="020B0703020202090204" pitchFamily="34" charset="0"/>
            </a:endParaRPr>
          </a:p>
          <a:p>
            <a:pPr>
              <a:buNone/>
            </a:pPr>
            <a:r>
              <a:rPr lang="en-US" sz="1800" b="1" spc="-10" dirty="0">
                <a:effectLst/>
                <a:latin typeface="Calibri" panose="020F0502020204030204" pitchFamily="34" charset="0"/>
                <a:ea typeface="Trebuchet MS" panose="020B0703020202090204" pitchFamily="34" charset="0"/>
                <a:cs typeface="Trebuchet MS" panose="020B0703020202090204" pitchFamily="34" charset="0"/>
              </a:rPr>
              <a:t> </a:t>
            </a:r>
            <a:endParaRPr lang="en-CA" sz="1600" dirty="0">
              <a:effectLst/>
              <a:latin typeface="Trebuchet MS" panose="020B0703020202090204" pitchFamily="34" charset="0"/>
              <a:ea typeface="Trebuchet MS" panose="020B0703020202090204" pitchFamily="34" charset="0"/>
              <a:cs typeface="Trebuchet MS" panose="020B0703020202090204" pitchFamily="34" charset="0"/>
            </a:endParaRPr>
          </a:p>
          <a:p>
            <a:pPr>
              <a:buNone/>
            </a:pPr>
            <a:r>
              <a:rPr lang="en-US" sz="1800" spc="-10" dirty="0">
                <a:effectLst/>
                <a:latin typeface="Calibri" panose="020F0502020204030204" pitchFamily="34" charset="0"/>
                <a:ea typeface="Trebuchet MS" panose="020B0703020202090204" pitchFamily="34" charset="0"/>
              </a:rPr>
              <a:t>For practical experimentation within available computational resources, this study used a curated subset of the ChestX-ray14 dataset consisting of 53,822 training images and 11,221 validation images, derived from a larger pool of patient-level–filtered samples. An additional test set of 11,196 images was maintained for final model evaluation. All splits were generated using patient-level stratification, ensuring that no patient appeared in more than one subset. This approach prevents data leakage, maintains subject independence between splits, and preserves the validity of performance estimates.</a:t>
            </a:r>
            <a:r>
              <a:rPr lang="en-CA" dirty="0">
                <a:effectLst/>
              </a:rPr>
              <a:t> </a:t>
            </a:r>
            <a:endParaRPr lang="en-US" dirty="0"/>
          </a:p>
        </p:txBody>
      </p:sp>
      <p:pic>
        <p:nvPicPr>
          <p:cNvPr id="5" name="Picture 4">
            <a:extLst>
              <a:ext uri="{FF2B5EF4-FFF2-40B4-BE49-F238E27FC236}">
                <a16:creationId xmlns:a16="http://schemas.microsoft.com/office/drawing/2014/main" id="{59335E26-A424-2373-A249-13D8DC093BED}"/>
              </a:ext>
            </a:extLst>
          </p:cNvPr>
          <p:cNvPicPr>
            <a:picLocks noChangeAspect="1"/>
          </p:cNvPicPr>
          <p:nvPr/>
        </p:nvPicPr>
        <p:blipFill>
          <a:blip r:embed="rId2"/>
          <a:stretch>
            <a:fillRect/>
          </a:stretch>
        </p:blipFill>
        <p:spPr>
          <a:xfrm>
            <a:off x="511628" y="3505927"/>
            <a:ext cx="9797143" cy="3036388"/>
          </a:xfrm>
          <a:prstGeom prst="rect">
            <a:avLst/>
          </a:prstGeom>
        </p:spPr>
      </p:pic>
      <p:sp>
        <p:nvSpPr>
          <p:cNvPr id="6" name="Slide Number Placeholder 5">
            <a:extLst>
              <a:ext uri="{FF2B5EF4-FFF2-40B4-BE49-F238E27FC236}">
                <a16:creationId xmlns:a16="http://schemas.microsoft.com/office/drawing/2014/main" id="{27F3AA94-B2E9-EC20-490E-4AB31956CBF2}"/>
              </a:ext>
            </a:extLst>
          </p:cNvPr>
          <p:cNvSpPr>
            <a:spLocks noGrp="1"/>
          </p:cNvSpPr>
          <p:nvPr>
            <p:ph type="sldNum" sz="quarter" idx="12"/>
          </p:nvPr>
        </p:nvSpPr>
        <p:spPr/>
        <p:txBody>
          <a:bodyPr/>
          <a:lstStyle/>
          <a:p>
            <a:fld id="{3A98EE3D-8CD1-4C3F-BD1C-C98C9596463C}" type="slidenum">
              <a:rPr lang="en-US" smtClean="0"/>
              <a:t>12</a:t>
            </a:fld>
            <a:endParaRPr lang="en-US" dirty="0"/>
          </a:p>
        </p:txBody>
      </p:sp>
    </p:spTree>
    <p:extLst>
      <p:ext uri="{BB962C8B-B14F-4D97-AF65-F5344CB8AC3E}">
        <p14:creationId xmlns:p14="http://schemas.microsoft.com/office/powerpoint/2010/main" val="2248890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23B58E-940C-62EB-9AE1-92AB0341E4A1}"/>
              </a:ext>
            </a:extLst>
          </p:cNvPr>
          <p:cNvSpPr txBox="1"/>
          <p:nvPr/>
        </p:nvSpPr>
        <p:spPr>
          <a:xfrm>
            <a:off x="435425" y="3265714"/>
            <a:ext cx="10504715" cy="2308324"/>
          </a:xfrm>
          <a:prstGeom prst="rect">
            <a:avLst/>
          </a:prstGeom>
          <a:noFill/>
        </p:spPr>
        <p:txBody>
          <a:bodyPr wrap="square">
            <a:spAutoFit/>
          </a:bodyPr>
          <a:lstStyle/>
          <a:p>
            <a:pPr>
              <a:buNone/>
            </a:pPr>
            <a:r>
              <a:rPr lang="en-CA" sz="1800" b="1" spc="-10" dirty="0">
                <a:effectLst/>
                <a:latin typeface="Calibri" panose="020F0502020204030204" pitchFamily="34" charset="0"/>
                <a:ea typeface="Trebuchet MS" panose="020B0703020202090204" pitchFamily="34" charset="0"/>
                <a:cs typeface="Trebuchet MS" panose="020B0703020202090204" pitchFamily="34" charset="0"/>
              </a:rPr>
              <a:t>Test Set Composition</a:t>
            </a:r>
            <a:endParaRPr lang="en-CA" sz="1600" dirty="0">
              <a:effectLst/>
              <a:latin typeface="Trebuchet MS" panose="020B0703020202090204" pitchFamily="34" charset="0"/>
              <a:ea typeface="Trebuchet MS" panose="020B0703020202090204" pitchFamily="34" charset="0"/>
              <a:cs typeface="Trebuchet MS" panose="020B0703020202090204" pitchFamily="34" charset="0"/>
            </a:endParaRPr>
          </a:p>
          <a:p>
            <a:pPr>
              <a:buNone/>
            </a:pPr>
            <a:r>
              <a:rPr lang="en-CA" sz="1800" spc="-10" dirty="0">
                <a:effectLst/>
                <a:latin typeface="Calibri" panose="020F0502020204030204" pitchFamily="34" charset="0"/>
                <a:ea typeface="Trebuchet MS" panose="020B0703020202090204" pitchFamily="34" charset="0"/>
                <a:cs typeface="Trebuchet MS" panose="020B0703020202090204" pitchFamily="34" charset="0"/>
              </a:rPr>
              <a:t>The held-out test set contained 11,196 chest radiographs, each annotated with 14 possible thoracic disease labels. All images were successfully loaded with no missing files. The distribution of positive cases across disease classes was highly imbalanced, with common conditions such as Infiltration (1,985 cases), Effusion (1,488 cases), and Atelectasis (1,173 cases) appearing far more frequently than rare conditions such as Hernia (20 cases), Pneumonia (134 cases), and Fibrosis (139 cases). This imbalance is consistent with the characteristics of the original NIH ChestX-ray14 dataset and significantly influences model performance, particularly recall on rare diseases.</a:t>
            </a:r>
            <a:endParaRPr lang="en-CA" sz="1600" dirty="0">
              <a:effectLst/>
              <a:latin typeface="Trebuchet MS" panose="020B0703020202090204" pitchFamily="34" charset="0"/>
              <a:ea typeface="Trebuchet MS" panose="020B0703020202090204" pitchFamily="34" charset="0"/>
              <a:cs typeface="Trebuchet MS" panose="020B0703020202090204" pitchFamily="34" charset="0"/>
            </a:endParaRPr>
          </a:p>
        </p:txBody>
      </p:sp>
      <p:sp>
        <p:nvSpPr>
          <p:cNvPr id="5" name="TextBox 4">
            <a:extLst>
              <a:ext uri="{FF2B5EF4-FFF2-40B4-BE49-F238E27FC236}">
                <a16:creationId xmlns:a16="http://schemas.microsoft.com/office/drawing/2014/main" id="{2AE97304-E8BA-FA08-B52B-4F5D3A8D8C80}"/>
              </a:ext>
            </a:extLst>
          </p:cNvPr>
          <p:cNvSpPr txBox="1"/>
          <p:nvPr/>
        </p:nvSpPr>
        <p:spPr>
          <a:xfrm>
            <a:off x="435425" y="1607796"/>
            <a:ext cx="10210803" cy="1200329"/>
          </a:xfrm>
          <a:prstGeom prst="rect">
            <a:avLst/>
          </a:prstGeom>
          <a:noFill/>
        </p:spPr>
        <p:txBody>
          <a:bodyPr wrap="square">
            <a:spAutoFit/>
          </a:bodyPr>
          <a:lstStyle/>
          <a:p>
            <a:r>
              <a:rPr lang="en-CA" dirty="0"/>
              <a:t>Using the default 0.50 threshold caused almost all predictions to be negative because of class imbalance.</a:t>
            </a:r>
            <a:br>
              <a:rPr lang="en-CA" dirty="0"/>
            </a:br>
            <a:r>
              <a:rPr lang="en-CA" dirty="0"/>
              <a:t>Lower thresholds were tested to improve sensitivity.</a:t>
            </a:r>
            <a:br>
              <a:rPr lang="en-CA" dirty="0"/>
            </a:br>
            <a:r>
              <a:rPr lang="en-CA" dirty="0"/>
              <a:t>A threshold of </a:t>
            </a:r>
            <a:r>
              <a:rPr lang="en-CA" b="1" dirty="0"/>
              <a:t>0.20</a:t>
            </a:r>
            <a:r>
              <a:rPr lang="en-CA" dirty="0"/>
              <a:t> provided the best balance between detecting diseases and limiting false positives.</a:t>
            </a:r>
            <a:br>
              <a:rPr lang="en-CA" dirty="0"/>
            </a:br>
            <a:r>
              <a:rPr lang="en-CA" dirty="0"/>
              <a:t>Threshold </a:t>
            </a:r>
            <a:r>
              <a:rPr lang="en-CA" b="1" dirty="0"/>
              <a:t>0.10</a:t>
            </a:r>
            <a:r>
              <a:rPr lang="en-CA" dirty="0"/>
              <a:t> increased recall further but introduced too many false alarms.</a:t>
            </a:r>
            <a:endParaRPr lang="en-US" dirty="0"/>
          </a:p>
        </p:txBody>
      </p:sp>
      <p:sp>
        <p:nvSpPr>
          <p:cNvPr id="7" name="TextBox 6">
            <a:extLst>
              <a:ext uri="{FF2B5EF4-FFF2-40B4-BE49-F238E27FC236}">
                <a16:creationId xmlns:a16="http://schemas.microsoft.com/office/drawing/2014/main" id="{6362A5DF-BF19-FA59-E843-085830A0969A}"/>
              </a:ext>
            </a:extLst>
          </p:cNvPr>
          <p:cNvSpPr txBox="1"/>
          <p:nvPr/>
        </p:nvSpPr>
        <p:spPr>
          <a:xfrm>
            <a:off x="435425" y="1143391"/>
            <a:ext cx="6096000" cy="369332"/>
          </a:xfrm>
          <a:prstGeom prst="rect">
            <a:avLst/>
          </a:prstGeom>
          <a:noFill/>
        </p:spPr>
        <p:txBody>
          <a:bodyPr wrap="square">
            <a:spAutoFit/>
          </a:bodyPr>
          <a:lstStyle/>
          <a:p>
            <a:r>
              <a:rPr lang="en-US" sz="1800" b="1" spc="-10" dirty="0">
                <a:effectLst/>
                <a:latin typeface="Calibri" panose="020F0502020204030204" pitchFamily="34" charset="0"/>
                <a:ea typeface="Trebuchet MS" panose="020B0703020202090204" pitchFamily="34" charset="0"/>
              </a:rPr>
              <a:t>Decision Threshold Optimization</a:t>
            </a:r>
            <a:r>
              <a:rPr lang="en-CA" dirty="0">
                <a:effectLst/>
              </a:rPr>
              <a:t> </a:t>
            </a:r>
            <a:endParaRPr lang="en-US" dirty="0"/>
          </a:p>
        </p:txBody>
      </p:sp>
      <p:sp>
        <p:nvSpPr>
          <p:cNvPr id="8" name="Slide Number Placeholder 7">
            <a:extLst>
              <a:ext uri="{FF2B5EF4-FFF2-40B4-BE49-F238E27FC236}">
                <a16:creationId xmlns:a16="http://schemas.microsoft.com/office/drawing/2014/main" id="{C052EA41-35BB-1A10-5A68-9B8449DAC714}"/>
              </a:ext>
            </a:extLst>
          </p:cNvPr>
          <p:cNvSpPr>
            <a:spLocks noGrp="1"/>
          </p:cNvSpPr>
          <p:nvPr>
            <p:ph type="sldNum" sz="quarter" idx="12"/>
          </p:nvPr>
        </p:nvSpPr>
        <p:spPr/>
        <p:txBody>
          <a:bodyPr/>
          <a:lstStyle/>
          <a:p>
            <a:fld id="{3A98EE3D-8CD1-4C3F-BD1C-C98C9596463C}" type="slidenum">
              <a:rPr lang="en-US" smtClean="0"/>
              <a:t>13</a:t>
            </a:fld>
            <a:endParaRPr lang="en-US" dirty="0"/>
          </a:p>
        </p:txBody>
      </p:sp>
    </p:spTree>
    <p:extLst>
      <p:ext uri="{BB962C8B-B14F-4D97-AF65-F5344CB8AC3E}">
        <p14:creationId xmlns:p14="http://schemas.microsoft.com/office/powerpoint/2010/main" val="2335517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2071A1C-D0D0-053A-4BAF-24B2E1FA679E}"/>
              </a:ext>
            </a:extLst>
          </p:cNvPr>
          <p:cNvSpPr txBox="1"/>
          <p:nvPr/>
        </p:nvSpPr>
        <p:spPr>
          <a:xfrm>
            <a:off x="717673" y="2088554"/>
            <a:ext cx="10102727" cy="3108543"/>
          </a:xfrm>
          <a:prstGeom prst="rect">
            <a:avLst/>
          </a:prstGeom>
          <a:noFill/>
        </p:spPr>
        <p:txBody>
          <a:bodyPr wrap="square">
            <a:spAutoFit/>
          </a:bodyPr>
          <a:lstStyle/>
          <a:p>
            <a:pPr>
              <a:buNone/>
            </a:pPr>
            <a:r>
              <a:rPr lang="en-US" sz="2800" b="1" spc="-10" dirty="0">
                <a:effectLst/>
                <a:latin typeface="Calibri" panose="020F0502020204030204" pitchFamily="34" charset="0"/>
                <a:ea typeface="Trebuchet MS" panose="020B0703020202090204" pitchFamily="34" charset="0"/>
                <a:cs typeface="Trebuchet MS" panose="020B0703020202090204" pitchFamily="34" charset="0"/>
              </a:rPr>
              <a:t>Clinical Interpretation</a:t>
            </a:r>
            <a:endParaRPr lang="en-CA" sz="2400" dirty="0">
              <a:effectLst/>
              <a:latin typeface="Trebuchet MS" panose="020B0703020202090204" pitchFamily="34" charset="0"/>
              <a:ea typeface="Trebuchet MS" panose="020B0703020202090204" pitchFamily="34" charset="0"/>
              <a:cs typeface="Trebuchet MS" panose="020B0703020202090204" pitchFamily="34" charset="0"/>
            </a:endParaRPr>
          </a:p>
          <a:p>
            <a:pPr>
              <a:buNone/>
            </a:pPr>
            <a:r>
              <a:rPr lang="en-CA" sz="2800" spc="-10" dirty="0">
                <a:effectLst/>
                <a:latin typeface="Calibri" panose="020F0502020204030204" pitchFamily="34" charset="0"/>
                <a:ea typeface="Trebuchet MS" panose="020B0703020202090204" pitchFamily="34" charset="0"/>
                <a:cs typeface="Trebuchet MS" panose="020B0703020202090204" pitchFamily="34" charset="0"/>
              </a:rPr>
              <a:t>The final DenseNet121 model achieved a macro AUC of 0.691, showing moderate ability to rank diseased vs. non-diseased cases. Common conditions such as Effusion, Edema, Pneumothorax, and Consolidation were detected more reliably, while rare labels like Hernia, Fibrosis, and Pneumonia showed very low recall due to limited examples.</a:t>
            </a:r>
            <a:endParaRPr lang="en-CA" sz="2400" dirty="0">
              <a:effectLst/>
              <a:latin typeface="Trebuchet MS" panose="020B0703020202090204" pitchFamily="34" charset="0"/>
              <a:ea typeface="Trebuchet MS" panose="020B0703020202090204" pitchFamily="34" charset="0"/>
              <a:cs typeface="Trebuchet MS" panose="020B0703020202090204" pitchFamily="34" charset="0"/>
            </a:endParaRPr>
          </a:p>
        </p:txBody>
      </p:sp>
      <p:sp>
        <p:nvSpPr>
          <p:cNvPr id="7" name="Slide Number Placeholder 6">
            <a:extLst>
              <a:ext uri="{FF2B5EF4-FFF2-40B4-BE49-F238E27FC236}">
                <a16:creationId xmlns:a16="http://schemas.microsoft.com/office/drawing/2014/main" id="{E5D24637-5EF4-24EE-37A0-B8203F4CD786}"/>
              </a:ext>
            </a:extLst>
          </p:cNvPr>
          <p:cNvSpPr>
            <a:spLocks noGrp="1"/>
          </p:cNvSpPr>
          <p:nvPr>
            <p:ph type="sldNum" sz="quarter" idx="12"/>
          </p:nvPr>
        </p:nvSpPr>
        <p:spPr/>
        <p:txBody>
          <a:bodyPr/>
          <a:lstStyle/>
          <a:p>
            <a:fld id="{3A98EE3D-8CD1-4C3F-BD1C-C98C9596463C}" type="slidenum">
              <a:rPr lang="en-US" smtClean="0"/>
              <a:t>14</a:t>
            </a:fld>
            <a:endParaRPr lang="en-US" dirty="0"/>
          </a:p>
        </p:txBody>
      </p:sp>
    </p:spTree>
    <p:extLst>
      <p:ext uri="{BB962C8B-B14F-4D97-AF65-F5344CB8AC3E}">
        <p14:creationId xmlns:p14="http://schemas.microsoft.com/office/powerpoint/2010/main" val="1300101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332C6-AEE4-A451-A3C8-7C2C8E2A5725}"/>
              </a:ext>
            </a:extLst>
          </p:cNvPr>
          <p:cNvSpPr>
            <a:spLocks noGrp="1"/>
          </p:cNvSpPr>
          <p:nvPr>
            <p:ph type="title"/>
          </p:nvPr>
        </p:nvSpPr>
        <p:spPr/>
        <p:txBody>
          <a:bodyPr/>
          <a:lstStyle/>
          <a:p>
            <a:r>
              <a:rPr lang="en-US" dirty="0"/>
              <a:t>conclusion</a:t>
            </a:r>
          </a:p>
        </p:txBody>
      </p:sp>
      <p:sp>
        <p:nvSpPr>
          <p:cNvPr id="4" name="Content Placeholder 3">
            <a:extLst>
              <a:ext uri="{FF2B5EF4-FFF2-40B4-BE49-F238E27FC236}">
                <a16:creationId xmlns:a16="http://schemas.microsoft.com/office/drawing/2014/main" id="{308443D9-BCAD-2F33-9DE7-54605EFCC263}"/>
              </a:ext>
            </a:extLst>
          </p:cNvPr>
          <p:cNvSpPr>
            <a:spLocks noGrp="1"/>
          </p:cNvSpPr>
          <p:nvPr>
            <p:ph sz="half" idx="2"/>
          </p:nvPr>
        </p:nvSpPr>
        <p:spPr>
          <a:xfrm>
            <a:off x="457200" y="2318490"/>
            <a:ext cx="11149333" cy="3633047"/>
          </a:xfrm>
        </p:spPr>
        <p:txBody>
          <a:bodyPr/>
          <a:lstStyle/>
          <a:p>
            <a:pPr marL="285750" indent="-285750">
              <a:buFont typeface="Arial"/>
              <a:buChar char="•"/>
            </a:pPr>
            <a:r>
              <a:rPr lang="en-US">
                <a:ea typeface="+mn-lt"/>
                <a:cs typeface="+mn-lt"/>
              </a:rPr>
              <a:t>The fine-tuned DenseNet121 achieved a macro AUC of 0.691, indicating moderate ability to rank thoracic disease likelihood.</a:t>
            </a:r>
          </a:p>
          <a:p>
            <a:pPr marL="285750" indent="-285750">
              <a:buFont typeface="Arial"/>
              <a:buChar char="•"/>
            </a:pPr>
            <a:r>
              <a:rPr lang="en-US">
                <a:ea typeface="+mn-lt"/>
                <a:cs typeface="+mn-lt"/>
              </a:rPr>
              <a:t>Lowering the decision threshold to improved sensitivity, emphasizing the role of threshold tuning in clinical settings.</a:t>
            </a:r>
          </a:p>
          <a:p>
            <a:pPr marL="285750" indent="-285750">
              <a:buFont typeface="Arial"/>
              <a:buChar char="•"/>
            </a:pPr>
            <a:r>
              <a:rPr lang="en-US">
                <a:ea typeface="+mn-lt"/>
                <a:cs typeface="+mn-lt"/>
              </a:rPr>
              <a:t>Performance was strongest for common conditions like Effusion and Edema, while rare diseases remained challenging due to class imbalance.</a:t>
            </a:r>
          </a:p>
          <a:p>
            <a:pPr marL="285750" indent="-285750">
              <a:buFont typeface="Arial"/>
              <a:buChar char="•"/>
            </a:pPr>
            <a:r>
              <a:rPr lang="en-US">
                <a:ea typeface="+mn-lt"/>
                <a:cs typeface="+mn-lt"/>
              </a:rPr>
              <a:t>The model demonstrates potential as a computer-aided detection (CAD) tool to prioritize likely abnormalities.</a:t>
            </a:r>
            <a:endParaRPr lang="en-US"/>
          </a:p>
          <a:p>
            <a:pPr marL="285750" indent="-285750">
              <a:buFont typeface="Arial"/>
              <a:buChar char="•"/>
            </a:pPr>
            <a:r>
              <a:rPr lang="en-US">
                <a:ea typeface="+mn-lt"/>
                <a:cs typeface="+mn-lt"/>
              </a:rPr>
              <a:t>Clinicians remain essential for final diagnosis decisions despite model support.</a:t>
            </a:r>
          </a:p>
          <a:p>
            <a:endParaRPr lang="en-US" dirty="0"/>
          </a:p>
        </p:txBody>
      </p:sp>
      <p:sp>
        <p:nvSpPr>
          <p:cNvPr id="3" name="Slide Number Placeholder 2">
            <a:extLst>
              <a:ext uri="{FF2B5EF4-FFF2-40B4-BE49-F238E27FC236}">
                <a16:creationId xmlns:a16="http://schemas.microsoft.com/office/drawing/2014/main" id="{16D6A1E1-01A2-F4EC-4D86-5869B2D2E4A2}"/>
              </a:ext>
            </a:extLst>
          </p:cNvPr>
          <p:cNvSpPr>
            <a:spLocks noGrp="1"/>
          </p:cNvSpPr>
          <p:nvPr>
            <p:ph type="sldNum" sz="quarter" idx="12"/>
          </p:nvPr>
        </p:nvSpPr>
        <p:spPr/>
        <p:txBody>
          <a:bodyPr/>
          <a:lstStyle/>
          <a:p>
            <a:fld id="{3A98EE3D-8CD1-4C3F-BD1C-C98C9596463C}" type="slidenum">
              <a:rPr lang="en-US" smtClean="0"/>
              <a:t>15</a:t>
            </a:fld>
            <a:endParaRPr lang="en-US" dirty="0"/>
          </a:p>
        </p:txBody>
      </p:sp>
    </p:spTree>
    <p:extLst>
      <p:ext uri="{BB962C8B-B14F-4D97-AF65-F5344CB8AC3E}">
        <p14:creationId xmlns:p14="http://schemas.microsoft.com/office/powerpoint/2010/main" val="370479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CFF20-EFEB-6BCE-0C6B-FE19510CD4B4}"/>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41D1B80F-ECDD-B505-8AA4-4FA0C799B553}"/>
              </a:ext>
            </a:extLst>
          </p:cNvPr>
          <p:cNvSpPr>
            <a:spLocks noGrp="1"/>
          </p:cNvSpPr>
          <p:nvPr>
            <p:ph idx="1"/>
          </p:nvPr>
        </p:nvSpPr>
        <p:spPr/>
        <p:txBody>
          <a:bodyPr vert="horz" lIns="91440" tIns="45720" rIns="91440" bIns="45720" rtlCol="0" anchor="ctr">
            <a:noAutofit/>
          </a:bodyPr>
          <a:lstStyle/>
          <a:p>
            <a:pPr marL="305435" indent="-305435"/>
            <a:r>
              <a:rPr lang="en-US" sz="1500" dirty="0">
                <a:ea typeface="+mn-lt"/>
                <a:cs typeface="+mn-lt"/>
              </a:rPr>
              <a:t>Wang X, Peng Y, Lu L, Lu Z, Bagheri M, Summers RM. ChestX-ray8: Hospital-scale Chest X-ray Database and Benchmarks on Weakly-Supervised Classification and Localization of Common Thorax Diseases. Proceedings of the IEEE Conference on Computer Vision and Pattern Recognition (CVPR). 2017. Available at: </a:t>
            </a:r>
            <a:r>
              <a:rPr lang="en-US" sz="1500" dirty="0">
                <a:ea typeface="+mn-lt"/>
                <a:cs typeface="+mn-lt"/>
                <a:hlinkClick r:id="rId2"/>
              </a:rPr>
              <a:t>https://arxiv.org/abs/1705.02315</a:t>
            </a:r>
            <a:r>
              <a:rPr lang="en-US" sz="1500" dirty="0">
                <a:ea typeface="+mn-lt"/>
                <a:cs typeface="+mn-lt"/>
              </a:rPr>
              <a:t>. Accessed November 25, 2025.</a:t>
            </a:r>
            <a:endParaRPr lang="en-US" sz="1500"/>
          </a:p>
          <a:p>
            <a:pPr marL="305435" indent="-305435"/>
            <a:r>
              <a:rPr lang="en-US" sz="1500" dirty="0">
                <a:ea typeface="+mn-lt"/>
                <a:cs typeface="+mn-lt"/>
              </a:rPr>
              <a:t>Kingma DP, Ba J. Adam: A Method for Stochastic Optimization. International Conference on</a:t>
            </a:r>
            <a:endParaRPr lang="en-US" sz="1500"/>
          </a:p>
          <a:p>
            <a:pPr marL="305435" indent="-305435"/>
            <a:r>
              <a:rPr lang="en-US" sz="1500" dirty="0">
                <a:ea typeface="+mn-lt"/>
                <a:cs typeface="+mn-lt"/>
              </a:rPr>
              <a:t>Learning Representations (ICLR). 2015. Available at: </a:t>
            </a:r>
            <a:r>
              <a:rPr lang="en-US" sz="1500" dirty="0">
                <a:ea typeface="+mn-lt"/>
                <a:cs typeface="+mn-lt"/>
                <a:hlinkClick r:id="rId3"/>
              </a:rPr>
              <a:t>https://arxiv.org/abs/1412.6980</a:t>
            </a:r>
            <a:r>
              <a:rPr lang="en-US" sz="1500" dirty="0">
                <a:ea typeface="+mn-lt"/>
                <a:cs typeface="+mn-lt"/>
              </a:rPr>
              <a:t>. Accessed November 25, 2025.</a:t>
            </a:r>
            <a:endParaRPr lang="en-US" sz="1500"/>
          </a:p>
          <a:p>
            <a:pPr marL="305435" indent="-305435"/>
            <a:r>
              <a:rPr lang="en-US" sz="1500" dirty="0">
                <a:ea typeface="+mn-lt"/>
                <a:cs typeface="+mn-lt"/>
              </a:rPr>
              <a:t>Goodfellow I, Bengio Y, Courville A. Deep Learning. MIT Press; 2016. Chapters 6 and 8. Available at: </a:t>
            </a:r>
            <a:r>
              <a:rPr lang="en-US" sz="1500" dirty="0">
                <a:ea typeface="+mn-lt"/>
                <a:cs typeface="+mn-lt"/>
                <a:hlinkClick r:id="rId4"/>
              </a:rPr>
              <a:t>https://www.deeplearningbook.org/</a:t>
            </a:r>
            <a:r>
              <a:rPr lang="en-US" sz="1500" dirty="0">
                <a:ea typeface="+mn-lt"/>
                <a:cs typeface="+mn-lt"/>
              </a:rPr>
              <a:t>. Accessed November 25, 2025.</a:t>
            </a:r>
            <a:endParaRPr lang="en-US" sz="1500"/>
          </a:p>
          <a:p>
            <a:pPr marL="305435" indent="-305435"/>
            <a:r>
              <a:rPr lang="en-US" sz="1500" dirty="0">
                <a:ea typeface="+mn-lt"/>
                <a:cs typeface="+mn-lt"/>
              </a:rPr>
              <a:t>Chen R, Stewart WF, Sun J, et al. Development and validation of a deep learning algorithm for detection of diabetic retinopathy in retinal fundus photographs. JAMA. 2016;304(6):649-656. doi:10.1001/jama.2016.13416. Accessed November 25, 2025.</a:t>
            </a:r>
            <a:endParaRPr lang="en-US" sz="1500"/>
          </a:p>
          <a:p>
            <a:pPr marL="305435" indent="-305435"/>
            <a:r>
              <a:rPr lang="en-US" sz="1500" dirty="0">
                <a:ea typeface="+mn-lt"/>
                <a:cs typeface="+mn-lt"/>
              </a:rPr>
              <a:t>GeeksforGeeks. ML - Stochastic Gradient Descent (SGD). Available at: </a:t>
            </a:r>
            <a:r>
              <a:rPr lang="en-US" sz="1500" dirty="0">
                <a:ea typeface="+mn-lt"/>
                <a:cs typeface="+mn-lt"/>
                <a:hlinkClick r:id="rId5"/>
              </a:rPr>
              <a:t>https://www.geeksforgeeks.org/machine-learning/ml-stochastic-gradient-descent-sgd/</a:t>
            </a:r>
            <a:r>
              <a:rPr lang="en-US" sz="1500" dirty="0">
                <a:ea typeface="+mn-lt"/>
                <a:cs typeface="+mn-lt"/>
              </a:rPr>
              <a:t>. Accessed November 25, 2025.</a:t>
            </a:r>
            <a:endParaRPr lang="en-US" sz="1500"/>
          </a:p>
          <a:p>
            <a:pPr marL="305435" indent="-305435"/>
            <a:r>
              <a:rPr lang="en-US" sz="1500">
                <a:ea typeface="+mn-lt"/>
                <a:cs typeface="+mn-lt"/>
              </a:rPr>
              <a:t>Kaggle Dataset. NIH Chest X-ray Dataset. Available at: </a:t>
            </a:r>
            <a:r>
              <a:rPr lang="en-US" sz="1500" dirty="0">
                <a:ea typeface="+mn-lt"/>
                <a:cs typeface="+mn-lt"/>
                <a:hlinkClick r:id="rId6"/>
              </a:rPr>
              <a:t>https://www.kaggle.com/datasets/nih-</a:t>
            </a:r>
            <a:r>
              <a:rPr lang="en-US" sz="1500">
                <a:ea typeface="+mn-lt"/>
                <a:cs typeface="+mn-lt"/>
              </a:rPr>
              <a:t> chest-xrays/data. Accessed November 25, 2025.</a:t>
            </a:r>
            <a:endParaRPr lang="en-US" sz="1500" dirty="0"/>
          </a:p>
          <a:p>
            <a:pPr marL="0" indent="0">
              <a:buNone/>
            </a:pPr>
            <a:endParaRPr lang="en-US" sz="1000" dirty="0"/>
          </a:p>
          <a:p>
            <a:pPr marL="305435" indent="-305435"/>
            <a:endParaRPr lang="en-US" dirty="0"/>
          </a:p>
        </p:txBody>
      </p:sp>
      <p:sp>
        <p:nvSpPr>
          <p:cNvPr id="4" name="Slide Number Placeholder 3">
            <a:extLst>
              <a:ext uri="{FF2B5EF4-FFF2-40B4-BE49-F238E27FC236}">
                <a16:creationId xmlns:a16="http://schemas.microsoft.com/office/drawing/2014/main" id="{CAFA0F94-74D8-782D-3251-B2B8C7B68151}"/>
              </a:ext>
            </a:extLst>
          </p:cNvPr>
          <p:cNvSpPr>
            <a:spLocks noGrp="1"/>
          </p:cNvSpPr>
          <p:nvPr>
            <p:ph type="sldNum" sz="quarter" idx="12"/>
          </p:nvPr>
        </p:nvSpPr>
        <p:spPr/>
        <p:txBody>
          <a:bodyPr/>
          <a:lstStyle/>
          <a:p>
            <a:fld id="{3A98EE3D-8CD1-4C3F-BD1C-C98C9596463C}" type="slidenum">
              <a:rPr lang="en-US" smtClean="0"/>
              <a:t>16</a:t>
            </a:fld>
            <a:endParaRPr lang="en-US"/>
          </a:p>
        </p:txBody>
      </p:sp>
    </p:spTree>
    <p:extLst>
      <p:ext uri="{BB962C8B-B14F-4D97-AF65-F5344CB8AC3E}">
        <p14:creationId xmlns:p14="http://schemas.microsoft.com/office/powerpoint/2010/main" val="2818651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B045D6AF-532B-394C-0C6F-38B6628CE9DF}"/>
              </a:ext>
            </a:extLst>
          </p:cNvPr>
          <p:cNvSpPr>
            <a:spLocks noGrp="1"/>
          </p:cNvSpPr>
          <p:nvPr>
            <p:ph type="title"/>
          </p:nvPr>
        </p:nvSpPr>
        <p:spPr>
          <a:xfrm>
            <a:off x="4731082" y="3117506"/>
            <a:ext cx="3491129" cy="610570"/>
          </a:xfrm>
        </p:spPr>
        <p:txBody>
          <a:bodyPr/>
          <a:lstStyle/>
          <a:p>
            <a:r>
              <a:rPr lang="en-US" sz="3200" b="1" dirty="0"/>
              <a:t>Thank  you</a:t>
            </a:r>
          </a:p>
        </p:txBody>
      </p:sp>
      <p:sp>
        <p:nvSpPr>
          <p:cNvPr id="2" name="Slide Number Placeholder 1">
            <a:extLst>
              <a:ext uri="{FF2B5EF4-FFF2-40B4-BE49-F238E27FC236}">
                <a16:creationId xmlns:a16="http://schemas.microsoft.com/office/drawing/2014/main" id="{74CBFE23-DE7A-1224-9C3C-77F84A0E6690}"/>
              </a:ext>
            </a:extLst>
          </p:cNvPr>
          <p:cNvSpPr>
            <a:spLocks noGrp="1"/>
          </p:cNvSpPr>
          <p:nvPr>
            <p:ph type="sldNum" sz="quarter" idx="16"/>
          </p:nvPr>
        </p:nvSpPr>
        <p:spPr/>
        <p:txBody>
          <a:bodyPr/>
          <a:lstStyle/>
          <a:p>
            <a:fld id="{3A98EE3D-8CD1-4C3F-BD1C-C98C9596463C}" type="slidenum">
              <a:rPr lang="en-US" noProof="0" smtClean="0"/>
              <a:t>17</a:t>
            </a:fld>
            <a:endParaRPr lang="en-US" noProof="0" dirty="0"/>
          </a:p>
        </p:txBody>
      </p:sp>
    </p:spTree>
    <p:extLst>
      <p:ext uri="{BB962C8B-B14F-4D97-AF65-F5344CB8AC3E}">
        <p14:creationId xmlns:p14="http://schemas.microsoft.com/office/powerpoint/2010/main" val="2770959368"/>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E679C34-122C-4127-90D9-C271AEE94CE4}">
  <ds:schemaRefs>
    <ds:schemaRef ds:uri="http://schemas.microsoft.com/sharepoint/v3/contenttype/forms"/>
  </ds:schemaRefs>
</ds:datastoreItem>
</file>

<file path=customXml/itemProps2.xml><?xml version="1.0" encoding="utf-8"?>
<ds:datastoreItem xmlns:ds="http://schemas.openxmlformats.org/officeDocument/2006/customXml" ds:itemID="{50437772-7826-4CEE-8E78-517B414A42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26303C-A89C-422C-9097-BDF7002EFC5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DividendVTI</Template>
  <TotalTime>14</TotalTime>
  <Words>1497</Words>
  <Application>Microsoft Macintosh PowerPoint</Application>
  <PresentationFormat>Widescreen</PresentationFormat>
  <Paragraphs>98</Paragraphs>
  <Slides>17</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Gill Sans MT</vt:lpstr>
      <vt:lpstr>Trebuchet MS</vt:lpstr>
      <vt:lpstr>Wingdings 2</vt:lpstr>
      <vt:lpstr>DividendVTI</vt:lpstr>
      <vt:lpstr>Medical Image Classification for Disease Diagnosis Using Deep Neural Networks with Hyperparameter Optimization</vt:lpstr>
      <vt:lpstr>Contents</vt:lpstr>
      <vt:lpstr>Introduction</vt:lpstr>
      <vt:lpstr>Project description</vt:lpstr>
      <vt:lpstr>Objectives</vt:lpstr>
      <vt:lpstr>Literature Review</vt:lpstr>
      <vt:lpstr>Data source</vt:lpstr>
      <vt:lpstr>methodology</vt:lpstr>
      <vt:lpstr>results</vt:lpstr>
      <vt:lpstr>PowerPoint Presentation</vt:lpstr>
      <vt:lpstr>PowerPoint Presentation</vt:lpstr>
      <vt:lpstr>PowerPoint Presentation</vt:lpstr>
      <vt:lpstr>PowerPoint Presentation</vt:lpstr>
      <vt:lpstr>PowerPoint Presentation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Maxwell Owusu-Edusei</cp:lastModifiedBy>
  <cp:revision>382</cp:revision>
  <dcterms:created xsi:type="dcterms:W3CDTF">2025-12-08T20:37:10Z</dcterms:created>
  <dcterms:modified xsi:type="dcterms:W3CDTF">2025-12-09T01:55:06Z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